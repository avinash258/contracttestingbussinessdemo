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246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sequence, then stop. We run two API versions. main is the Pact suite we already trust. v2 publishes the latest Swagger. CI diffs v2 OpenAPI against those pacts and fails when operations are missing. In this demo I will not hand-write the new contracts. The local agent implements them, and we review the diff.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the live part is the last four minutes. The first six minutes exist so the red build is meaningful when it appears. If time is short, keep slides 3, 5, and 6, then go to the terminal.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main here is the contract suite in this repo, aligned to today's Swagger. The coverage doc currently shows 107 of 107 covered. v2 is the other running API, the one with the newer Swagger. We do not fork the test framework. We point gateway.config.json at v2 and let the same gate run. Mention ports only if asked: Gateway 4100, CLM 4101, MDM 4102, ACC 4103, TAX 4104, ALC 4105, DOC 4106.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Stress stage 2: that is the finding. Consumer can be green and the build still fails, because v2 added operations the pacts do not mention. Provider default scope is CLM and MDM; the Swagger gate is not scoped that way. It checks the whole OpenAPI document. If they ask where the agent runs in CI: GitHub Actions workflow Swagger gap AI agent, after this pipeline fails. Azure DevOps runs the gate only.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statuses, then the red line. The fail condition is only unexpected Missing. Deferred upload-200 stays deferred on purpose: the agent is told not to fake a multipart success. Partial means the path is touched but the response we care about is not fully contracted, for example an upload that only asserts 400. The hand-off name in the log is the same Cursor agent we will use locally. Artifacts: reports/swagger-coverage.json and, with --write-doc, docs/SWAGGER_GAP_COVERAGE.md. The numbers on the right are the shape of a v2 run, not a measured count. Say that out loud, then paste the live missing list when you run the gate.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leave up while you type. Step 1 proves the suite is healthy against the API it was written for. Step 2 is a config change, not a code change: gatewayBaseUrl points at v2, then npm run sync:gateway. Step 3 is the CI failure, reproduced locally. Step 4 is the read-only auditor so the room sees the gap before any file is written. Step 5 is the implementation. Prefer the Cursor agent in the room, because it does not need the Azure OpenAI secrets. If those secrets are present, npm run agent:swagger-gaps is the same prompt unattended, and npm run agent:swagger-gaps:dry prints the plan without writing. Step 6: npm run agent:swagger-gaps:report writes reports/SWAGGER_GAP_AGENT_REPORT.md. Open dashboard/index.html if you want the visual report. Prompt you can paste: Audit Swagger coverage against the v2 gateway. List missing operations. Then implement only those Pact contracts and re-run the coverage gate.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does not get a blank page. It is handed the missing list from the coverage JSON, and the system prompt is the same markdown the Cursor agent uses. The scripted loop may call read_file, write_file, list_dir, run_command, or finish. Commands it may run: npm run test:consumer, npm run test:swagger-coverage, the ci variant, and tsc. If a provider verification goes red after the new contracts, the follow-on agents are PactProviderVerifier and PactFailureDoctor. BreakingChangeDetector is there if someone asks whether a v2 change is breaking or additive. Do not open that unless asked.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everyone is thinking: what stops the agent from rewriting the repo. Walk 01, 05, and 06 if you are short on time. 06 matters: a successful demo is not 'the agent covered every line of Swagger.' Upload success stays deferred. A person still reviews the diff before anything merges. On CI that review is the pull request. Locally it is the git diff you read before you commit.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boundary explicit so nobody leaves thinking Azure is calling the model. Azure runs consumer, swagger gate, provider, and email. GitHub Actions runs that same gate and, on a swagger failure, dispatches the agent, which opens a PR. The demo uses the local Cursor agent so the room can watch the files appear. The script npm run agent:swagger-gaps is the unattended version of that same prompt, for CI or for a machine that has the API key.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sentence in the title, then the review line. Do not promise that every Swagger operation becomes a Pact test. Deferred stays deferred. If the live run finished green, point at the report and sit down. If it is still running, show the missing list and the files the agent has already touched, and say the proof is the gate returning to zero missing. Questions you may get: Why Pact as well as Swagger? Swagger says what the API offers. Pact says what a consumer actually depends on, and the provider is verified against the running service. Why not only generate tests in CI? Because this demo is the developer loop: see the gap, implement locally, review, then CI is the same check on the pull request.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01    /    10</a:t>
            </a:r>
            <a:endParaRPr lang="en-US" sz="1100" dirty="0"/>
          </a:p>
        </p:txBody>
      </p:sp>
      <p:sp>
        <p:nvSpPr>
          <p:cNvPr id="5" name="Text 3"/>
          <p:cNvSpPr/>
          <p:nvPr/>
        </p:nvSpPr>
        <p:spPr>
          <a:xfrm>
            <a:off x="457200" y="1051560"/>
            <a:ext cx="7315200" cy="256032"/>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TAXMESH DEMO</a:t>
            </a:r>
            <a:endParaRPr lang="en-US" sz="1300" dirty="0"/>
          </a:p>
        </p:txBody>
      </p:sp>
      <p:sp>
        <p:nvSpPr>
          <p:cNvPr id="6" name="Text 4"/>
          <p:cNvSpPr/>
          <p:nvPr/>
        </p:nvSpPr>
        <p:spPr>
          <a:xfrm>
            <a:off x="438912" y="1389888"/>
            <a:ext cx="11155680" cy="713232"/>
          </a:xfrm>
          <a:prstGeom prst="rect">
            <a:avLst/>
          </a:prstGeom>
          <a:noFill/>
          <a:ln/>
        </p:spPr>
        <p:txBody>
          <a:bodyPr wrap="square" lIns="0" tIns="0" rIns="0" bIns="0" rtlCol="0" anchor="ctr"/>
          <a:lstStyle/>
          <a:p>
            <a:pPr marL="0" indent="0">
              <a:buNone/>
            </a:pPr>
            <a:r>
              <a:rPr lang="en-US" sz="4200" b="1" dirty="0">
                <a:solidFill>
                  <a:srgbClr val="F7F9FC"/>
                </a:solidFill>
                <a:latin typeface="Calibri" pitchFamily="34" charset="0"/>
                <a:ea typeface="Calibri" pitchFamily="34" charset="-122"/>
                <a:cs typeface="Calibri" pitchFamily="34" charset="-120"/>
              </a:rPr>
              <a:t>Agentic contract testing</a:t>
            </a:r>
            <a:endParaRPr lang="en-US" sz="4200" dirty="0"/>
          </a:p>
        </p:txBody>
      </p:sp>
      <p:sp>
        <p:nvSpPr>
          <p:cNvPr id="7" name="Text 5"/>
          <p:cNvSpPr/>
          <p:nvPr/>
        </p:nvSpPr>
        <p:spPr>
          <a:xfrm>
            <a:off x="457200" y="2240280"/>
            <a:ext cx="10515600" cy="777240"/>
          </a:xfrm>
          <a:prstGeom prst="rect">
            <a:avLst/>
          </a:prstGeom>
          <a:noFill/>
          <a:ln/>
        </p:spPr>
        <p:txBody>
          <a:bodyPr wrap="square" lIns="0" tIns="0" rIns="0" bIns="0" rtlCol="0" anchor="ctr"/>
          <a:lstStyle/>
          <a:p>
            <a:pPr marL="0" indent="0">
              <a:buNone/>
            </a:pPr>
            <a:r>
              <a:rPr lang="en-US" sz="2000" dirty="0">
                <a:solidFill>
                  <a:srgbClr val="D5DEE8"/>
                </a:solidFill>
                <a:latin typeface="Calibri" pitchFamily="34" charset="0"/>
                <a:ea typeface="Calibri" pitchFamily="34" charset="-122"/>
                <a:cs typeface="Calibri" pitchFamily="34" charset="-120"/>
              </a:rPr>
              <a:t>Two API versions. CI finds the Swagger gap.</a:t>
            </a:r>
            <a:endParaRPr lang="en-US" sz="2000" dirty="0"/>
          </a:p>
          <a:p>
            <a:pPr marL="0" indent="0">
              <a:buNone/>
            </a:pPr>
            <a:r>
              <a:rPr lang="en-US" sz="2000" dirty="0">
                <a:solidFill>
                  <a:srgbClr val="D5DEE8"/>
                </a:solidFill>
                <a:latin typeface="Calibri" pitchFamily="34" charset="0"/>
                <a:ea typeface="Calibri" pitchFamily="34" charset="-122"/>
                <a:cs typeface="Calibri" pitchFamily="34" charset="-120"/>
              </a:rPr>
              <a:t>The local agent implements the missing Pact contracts.</a:t>
            </a:r>
            <a:endParaRPr lang="en-US" sz="2000" dirty="0"/>
          </a:p>
        </p:txBody>
      </p:sp>
      <p:sp>
        <p:nvSpPr>
          <p:cNvPr id="8" name="Shape 6"/>
          <p:cNvSpPr/>
          <p:nvPr/>
        </p:nvSpPr>
        <p:spPr>
          <a:xfrm>
            <a:off x="438912" y="3703320"/>
            <a:ext cx="2724912" cy="2148840"/>
          </a:xfrm>
          <a:prstGeom prst="roundRect">
            <a:avLst>
              <a:gd name="adj" fmla="val 3404"/>
            </a:avLst>
          </a:prstGeom>
          <a:solidFill>
            <a:srgbClr val="132A3A"/>
          </a:solidFill>
          <a:ln w="12700">
            <a:solidFill>
              <a:srgbClr val="2A4A60"/>
            </a:solidFill>
            <a:prstDash val="solid"/>
          </a:ln>
        </p:spPr>
        <p:txBody>
          <a:bodyPr/>
          <a:lstStyle/>
          <a:p>
            <a:endParaRPr lang="en-US"/>
          </a:p>
        </p:txBody>
      </p:sp>
      <p:sp>
        <p:nvSpPr>
          <p:cNvPr id="9" name="Text 7"/>
          <p:cNvSpPr/>
          <p:nvPr/>
        </p:nvSpPr>
        <p:spPr>
          <a:xfrm>
            <a:off x="640080" y="3858768"/>
            <a:ext cx="2286000" cy="292608"/>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01</a:t>
            </a:r>
            <a:endParaRPr lang="en-US" sz="1300" dirty="0"/>
          </a:p>
        </p:txBody>
      </p:sp>
      <p:sp>
        <p:nvSpPr>
          <p:cNvPr id="10" name="Text 8"/>
          <p:cNvSpPr/>
          <p:nvPr/>
        </p:nvSpPr>
        <p:spPr>
          <a:xfrm>
            <a:off x="640080" y="4187952"/>
            <a:ext cx="2331720" cy="438912"/>
          </a:xfrm>
          <a:prstGeom prst="rect">
            <a:avLst/>
          </a:prstGeom>
          <a:noFill/>
          <a:ln/>
        </p:spPr>
        <p:txBody>
          <a:bodyPr wrap="square" lIns="0" tIns="0" rIns="0" bIns="0" rtlCol="0" anchor="ctr"/>
          <a:lstStyle/>
          <a:p>
            <a:pPr marL="0" indent="0">
              <a:buNone/>
            </a:pPr>
            <a:r>
              <a:rPr lang="en-US" sz="2200" b="1" dirty="0">
                <a:solidFill>
                  <a:srgbClr val="F7F9FC"/>
                </a:solidFill>
                <a:latin typeface="Calibri" pitchFamily="34" charset="0"/>
                <a:ea typeface="Calibri" pitchFamily="34" charset="-122"/>
                <a:cs typeface="Calibri" pitchFamily="34" charset="-120"/>
              </a:rPr>
              <a:t>main</a:t>
            </a:r>
            <a:endParaRPr lang="en-US" sz="2200" dirty="0"/>
          </a:p>
        </p:txBody>
      </p:sp>
      <p:sp>
        <p:nvSpPr>
          <p:cNvPr id="11" name="Text 9"/>
          <p:cNvSpPr/>
          <p:nvPr/>
        </p:nvSpPr>
        <p:spPr>
          <a:xfrm>
            <a:off x="640080" y="4754880"/>
            <a:ext cx="2331720" cy="731520"/>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Pact suite we already trust</a:t>
            </a:r>
            <a:endParaRPr lang="en-US" sz="1400" dirty="0"/>
          </a:p>
        </p:txBody>
      </p:sp>
      <p:sp>
        <p:nvSpPr>
          <p:cNvPr id="12" name="Shape 10"/>
          <p:cNvSpPr/>
          <p:nvPr/>
        </p:nvSpPr>
        <p:spPr>
          <a:xfrm>
            <a:off x="3319272" y="3703320"/>
            <a:ext cx="2724912" cy="2148840"/>
          </a:xfrm>
          <a:prstGeom prst="roundRect">
            <a:avLst>
              <a:gd name="adj" fmla="val 3404"/>
            </a:avLst>
          </a:prstGeom>
          <a:solidFill>
            <a:srgbClr val="132A3A"/>
          </a:solidFill>
          <a:ln w="12700">
            <a:solidFill>
              <a:srgbClr val="2A4A60"/>
            </a:solidFill>
            <a:prstDash val="solid"/>
          </a:ln>
        </p:spPr>
        <p:txBody>
          <a:bodyPr/>
          <a:lstStyle/>
          <a:p>
            <a:endParaRPr lang="en-US"/>
          </a:p>
        </p:txBody>
      </p:sp>
      <p:sp>
        <p:nvSpPr>
          <p:cNvPr id="13" name="Text 11"/>
          <p:cNvSpPr/>
          <p:nvPr/>
        </p:nvSpPr>
        <p:spPr>
          <a:xfrm>
            <a:off x="3520440" y="3858768"/>
            <a:ext cx="2286000" cy="292608"/>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3520440" y="4187952"/>
            <a:ext cx="2331720" cy="438912"/>
          </a:xfrm>
          <a:prstGeom prst="rect">
            <a:avLst/>
          </a:prstGeom>
          <a:noFill/>
          <a:ln/>
        </p:spPr>
        <p:txBody>
          <a:bodyPr wrap="square" lIns="0" tIns="0" rIns="0" bIns="0" rtlCol="0" anchor="ctr"/>
          <a:lstStyle/>
          <a:p>
            <a:pPr marL="0" indent="0">
              <a:buNone/>
            </a:pPr>
            <a:r>
              <a:rPr lang="en-US" sz="2200" b="1" dirty="0">
                <a:solidFill>
                  <a:srgbClr val="F7F9FC"/>
                </a:solidFill>
                <a:latin typeface="Calibri" pitchFamily="34" charset="0"/>
                <a:ea typeface="Calibri" pitchFamily="34" charset="-122"/>
                <a:cs typeface="Calibri" pitchFamily="34" charset="-120"/>
              </a:rPr>
              <a:t>v2</a:t>
            </a:r>
            <a:endParaRPr lang="en-US" sz="2200" dirty="0"/>
          </a:p>
        </p:txBody>
      </p:sp>
      <p:sp>
        <p:nvSpPr>
          <p:cNvPr id="15" name="Text 13"/>
          <p:cNvSpPr/>
          <p:nvPr/>
        </p:nvSpPr>
        <p:spPr>
          <a:xfrm>
            <a:off x="3520440" y="4754880"/>
            <a:ext cx="2331720" cy="731520"/>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Latest Swagger on the gateway</a:t>
            </a:r>
            <a:endParaRPr lang="en-US" sz="1400" dirty="0"/>
          </a:p>
        </p:txBody>
      </p:sp>
      <p:sp>
        <p:nvSpPr>
          <p:cNvPr id="16" name="Shape 14"/>
          <p:cNvSpPr/>
          <p:nvPr/>
        </p:nvSpPr>
        <p:spPr>
          <a:xfrm>
            <a:off x="6199632" y="3703320"/>
            <a:ext cx="2724912" cy="2148840"/>
          </a:xfrm>
          <a:prstGeom prst="roundRect">
            <a:avLst>
              <a:gd name="adj" fmla="val 3404"/>
            </a:avLst>
          </a:prstGeom>
          <a:solidFill>
            <a:srgbClr val="132A3A"/>
          </a:solidFill>
          <a:ln w="12700">
            <a:solidFill>
              <a:srgbClr val="2A4A60"/>
            </a:solidFill>
            <a:prstDash val="solid"/>
          </a:ln>
        </p:spPr>
        <p:txBody>
          <a:bodyPr/>
          <a:lstStyle/>
          <a:p>
            <a:endParaRPr lang="en-US"/>
          </a:p>
        </p:txBody>
      </p:sp>
      <p:sp>
        <p:nvSpPr>
          <p:cNvPr id="17" name="Text 15"/>
          <p:cNvSpPr/>
          <p:nvPr/>
        </p:nvSpPr>
        <p:spPr>
          <a:xfrm>
            <a:off x="6400800" y="3858768"/>
            <a:ext cx="2286000" cy="292608"/>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6400800" y="4187952"/>
            <a:ext cx="2331720" cy="438912"/>
          </a:xfrm>
          <a:prstGeom prst="rect">
            <a:avLst/>
          </a:prstGeom>
          <a:noFill/>
          <a:ln/>
        </p:spPr>
        <p:txBody>
          <a:bodyPr wrap="square" lIns="0" tIns="0" rIns="0" bIns="0" rtlCol="0" anchor="ctr"/>
          <a:lstStyle/>
          <a:p>
            <a:pPr marL="0" indent="0">
              <a:buNone/>
            </a:pPr>
            <a:r>
              <a:rPr lang="en-US" sz="2200" b="1" dirty="0">
                <a:solidFill>
                  <a:srgbClr val="F7F9FC"/>
                </a:solidFill>
                <a:latin typeface="Calibri" pitchFamily="34" charset="0"/>
                <a:ea typeface="Calibri" pitchFamily="34" charset="-122"/>
                <a:cs typeface="Calibri" pitchFamily="34" charset="-120"/>
              </a:rPr>
              <a:t>CI</a:t>
            </a:r>
            <a:endParaRPr lang="en-US" sz="2200" dirty="0"/>
          </a:p>
        </p:txBody>
      </p:sp>
      <p:sp>
        <p:nvSpPr>
          <p:cNvPr id="19" name="Text 17"/>
          <p:cNvSpPr/>
          <p:nvPr/>
        </p:nvSpPr>
        <p:spPr>
          <a:xfrm>
            <a:off x="6400800" y="4754880"/>
            <a:ext cx="2331720" cy="731520"/>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Diff fails when ops are missing</a:t>
            </a:r>
            <a:endParaRPr lang="en-US" sz="1400" dirty="0"/>
          </a:p>
        </p:txBody>
      </p:sp>
      <p:sp>
        <p:nvSpPr>
          <p:cNvPr id="20" name="Shape 18"/>
          <p:cNvSpPr/>
          <p:nvPr/>
        </p:nvSpPr>
        <p:spPr>
          <a:xfrm>
            <a:off x="9079992" y="3703320"/>
            <a:ext cx="2724912" cy="2148840"/>
          </a:xfrm>
          <a:prstGeom prst="roundRect">
            <a:avLst>
              <a:gd name="adj" fmla="val 3404"/>
            </a:avLst>
          </a:prstGeom>
          <a:solidFill>
            <a:srgbClr val="132A3A"/>
          </a:solidFill>
          <a:ln w="12700">
            <a:solidFill>
              <a:srgbClr val="2A4A60"/>
            </a:solidFill>
            <a:prstDash val="solid"/>
          </a:ln>
        </p:spPr>
        <p:txBody>
          <a:bodyPr/>
          <a:lstStyle/>
          <a:p>
            <a:endParaRPr lang="en-US"/>
          </a:p>
        </p:txBody>
      </p:sp>
      <p:sp>
        <p:nvSpPr>
          <p:cNvPr id="21" name="Text 19"/>
          <p:cNvSpPr/>
          <p:nvPr/>
        </p:nvSpPr>
        <p:spPr>
          <a:xfrm>
            <a:off x="9281160" y="3858768"/>
            <a:ext cx="2286000" cy="292608"/>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9281160" y="4187952"/>
            <a:ext cx="2331720" cy="438912"/>
          </a:xfrm>
          <a:prstGeom prst="rect">
            <a:avLst/>
          </a:prstGeom>
          <a:noFill/>
          <a:ln/>
        </p:spPr>
        <p:txBody>
          <a:bodyPr wrap="square" lIns="0" tIns="0" rIns="0" bIns="0" rtlCol="0" anchor="ctr"/>
          <a:lstStyle/>
          <a:p>
            <a:pPr marL="0" indent="0">
              <a:buNone/>
            </a:pPr>
            <a:r>
              <a:rPr lang="en-US" sz="2200" b="1" dirty="0">
                <a:solidFill>
                  <a:srgbClr val="F7F9FC"/>
                </a:solidFill>
                <a:latin typeface="Calibri" pitchFamily="34" charset="0"/>
                <a:ea typeface="Calibri" pitchFamily="34" charset="-122"/>
                <a:cs typeface="Calibri" pitchFamily="34" charset="-120"/>
              </a:rPr>
              <a:t>Local agent</a:t>
            </a:r>
            <a:endParaRPr lang="en-US" sz="2200" dirty="0"/>
          </a:p>
        </p:txBody>
      </p:sp>
      <p:sp>
        <p:nvSpPr>
          <p:cNvPr id="23" name="Text 21"/>
          <p:cNvSpPr/>
          <p:nvPr/>
        </p:nvSpPr>
        <p:spPr>
          <a:xfrm>
            <a:off x="9281160" y="4754880"/>
            <a:ext cx="2331720" cy="731520"/>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Writes the contracts, you review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02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RUN OF SHOW</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Ten minutes, four beats</a:t>
            </a:r>
            <a:endParaRPr lang="en-US" sz="2800" dirty="0"/>
          </a:p>
        </p:txBody>
      </p:sp>
      <p:sp>
        <p:nvSpPr>
          <p:cNvPr id="7" name="Shape 5"/>
          <p:cNvSpPr/>
          <p:nvPr/>
        </p:nvSpPr>
        <p:spPr>
          <a:xfrm>
            <a:off x="411480" y="1234440"/>
            <a:ext cx="11338560" cy="1133856"/>
          </a:xfrm>
          <a:prstGeom prst="roundRect">
            <a:avLst>
              <a:gd name="adj" fmla="val 6452"/>
            </a:avLst>
          </a:prstGeom>
          <a:solidFill>
            <a:srgbClr val="132A3A"/>
          </a:solidFill>
          <a:ln w="12700">
            <a:solidFill>
              <a:srgbClr val="2A4A60"/>
            </a:solidFill>
            <a:prstDash val="solid"/>
          </a:ln>
        </p:spPr>
        <p:txBody>
          <a:bodyPr/>
          <a:lstStyle/>
          <a:p>
            <a:endParaRPr lang="en-US"/>
          </a:p>
        </p:txBody>
      </p:sp>
      <p:sp>
        <p:nvSpPr>
          <p:cNvPr id="8" name="Text 6"/>
          <p:cNvSpPr/>
          <p:nvPr/>
        </p:nvSpPr>
        <p:spPr>
          <a:xfrm>
            <a:off x="640080" y="1527048"/>
            <a:ext cx="731520" cy="502920"/>
          </a:xfrm>
          <a:prstGeom prst="rect">
            <a:avLst/>
          </a:prstGeom>
          <a:noFill/>
          <a:ln/>
        </p:spPr>
        <p:txBody>
          <a:bodyPr wrap="square" lIns="0" tIns="0" rIns="0" bIns="0" rtlCol="0" anchor="ctr"/>
          <a:lstStyle/>
          <a:p>
            <a:pPr marL="0" indent="0">
              <a:buNone/>
            </a:pPr>
            <a:r>
              <a:rPr lang="en-US" sz="2200" b="1" dirty="0">
                <a:solidFill>
                  <a:srgbClr val="3EE0C5"/>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1554480" y="1399032"/>
            <a:ext cx="7498080" cy="384048"/>
          </a:xfrm>
          <a:prstGeom prst="rect">
            <a:avLst/>
          </a:prstGeom>
          <a:noFill/>
          <a:ln/>
        </p:spPr>
        <p:txBody>
          <a:bodyPr wrap="square" lIns="0" tIns="0" rIns="0" bIns="0" rtlCol="0" anchor="ctr"/>
          <a:lstStyle/>
          <a:p>
            <a:pPr marL="0" indent="0">
              <a:buNone/>
            </a:pPr>
            <a:r>
              <a:rPr lang="en-US" sz="2000" b="1" dirty="0">
                <a:solidFill>
                  <a:srgbClr val="F7F9FC"/>
                </a:solidFill>
                <a:latin typeface="Calibri" pitchFamily="34" charset="0"/>
                <a:ea typeface="Calibri" pitchFamily="34" charset="-122"/>
                <a:cs typeface="Calibri" pitchFamily="34" charset="-120"/>
              </a:rPr>
              <a:t>Two versions</a:t>
            </a:r>
            <a:endParaRPr lang="en-US" sz="2000" dirty="0"/>
          </a:p>
        </p:txBody>
      </p:sp>
      <p:sp>
        <p:nvSpPr>
          <p:cNvPr id="10" name="Text 8"/>
          <p:cNvSpPr/>
          <p:nvPr/>
        </p:nvSpPr>
        <p:spPr>
          <a:xfrm>
            <a:off x="1554480" y="1819656"/>
            <a:ext cx="7680960" cy="384048"/>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main holds the contracts. v2 holds the newer Swagger. Same suite, different spec.</a:t>
            </a:r>
            <a:endParaRPr lang="en-US" sz="1400" dirty="0"/>
          </a:p>
        </p:txBody>
      </p:sp>
      <p:sp>
        <p:nvSpPr>
          <p:cNvPr id="11" name="Text 9"/>
          <p:cNvSpPr/>
          <p:nvPr/>
        </p:nvSpPr>
        <p:spPr>
          <a:xfrm>
            <a:off x="9601200" y="1581912"/>
            <a:ext cx="1874520" cy="384048"/>
          </a:xfrm>
          <a:prstGeom prst="rect">
            <a:avLst/>
          </a:prstGeom>
          <a:noFill/>
          <a:ln/>
        </p:spPr>
        <p:txBody>
          <a:bodyPr wrap="square" lIns="0" tIns="0" rIns="0" bIns="0" rtlCol="0" anchor="ctr"/>
          <a:lstStyle/>
          <a:p>
            <a:pPr marL="0" indent="0" algn="r">
              <a:buNone/>
            </a:pPr>
            <a:r>
              <a:rPr lang="en-US" sz="1600" b="1" dirty="0">
                <a:solidFill>
                  <a:srgbClr val="E4C58B"/>
                </a:solidFill>
                <a:latin typeface="Calibri" pitchFamily="34" charset="0"/>
                <a:ea typeface="Calibri" pitchFamily="34" charset="-122"/>
                <a:cs typeface="Calibri" pitchFamily="34" charset="-120"/>
              </a:rPr>
              <a:t>2 min</a:t>
            </a:r>
            <a:endParaRPr lang="en-US" sz="1600" dirty="0"/>
          </a:p>
        </p:txBody>
      </p:sp>
      <p:sp>
        <p:nvSpPr>
          <p:cNvPr id="12" name="Shape 10"/>
          <p:cNvSpPr/>
          <p:nvPr/>
        </p:nvSpPr>
        <p:spPr>
          <a:xfrm>
            <a:off x="411480" y="2496312"/>
            <a:ext cx="11338560" cy="1133856"/>
          </a:xfrm>
          <a:prstGeom prst="roundRect">
            <a:avLst>
              <a:gd name="adj" fmla="val 6452"/>
            </a:avLst>
          </a:prstGeom>
          <a:solidFill>
            <a:srgbClr val="132A3A"/>
          </a:solidFill>
          <a:ln w="12700">
            <a:solidFill>
              <a:srgbClr val="2A4A60"/>
            </a:solidFill>
            <a:prstDash val="solid"/>
          </a:ln>
        </p:spPr>
        <p:txBody>
          <a:bodyPr/>
          <a:lstStyle/>
          <a:p>
            <a:endParaRPr lang="en-US"/>
          </a:p>
        </p:txBody>
      </p:sp>
      <p:sp>
        <p:nvSpPr>
          <p:cNvPr id="13" name="Text 11"/>
          <p:cNvSpPr/>
          <p:nvPr/>
        </p:nvSpPr>
        <p:spPr>
          <a:xfrm>
            <a:off x="640080" y="2788920"/>
            <a:ext cx="731520" cy="502920"/>
          </a:xfrm>
          <a:prstGeom prst="rect">
            <a:avLst/>
          </a:prstGeom>
          <a:noFill/>
          <a:ln/>
        </p:spPr>
        <p:txBody>
          <a:bodyPr wrap="square" lIns="0" tIns="0" rIns="0" bIns="0" rtlCol="0" anchor="ctr"/>
          <a:lstStyle/>
          <a:p>
            <a:pPr marL="0" indent="0">
              <a:buNone/>
            </a:pPr>
            <a:r>
              <a:rPr lang="en-US" sz="2200" b="1" dirty="0">
                <a:solidFill>
                  <a:srgbClr val="3EE0C5"/>
                </a:solidFill>
                <a:latin typeface="Calibri" pitchFamily="34" charset="0"/>
                <a:ea typeface="Calibri" pitchFamily="34" charset="-122"/>
                <a:cs typeface="Calibri" pitchFamily="34" charset="-120"/>
              </a:rPr>
              <a:t>02</a:t>
            </a:r>
            <a:endParaRPr lang="en-US" sz="2200" dirty="0"/>
          </a:p>
        </p:txBody>
      </p:sp>
      <p:sp>
        <p:nvSpPr>
          <p:cNvPr id="14" name="Text 12"/>
          <p:cNvSpPr/>
          <p:nvPr/>
        </p:nvSpPr>
        <p:spPr>
          <a:xfrm>
            <a:off x="1554480" y="2660904"/>
            <a:ext cx="7498080" cy="384048"/>
          </a:xfrm>
          <a:prstGeom prst="rect">
            <a:avLst/>
          </a:prstGeom>
          <a:noFill/>
          <a:ln/>
        </p:spPr>
        <p:txBody>
          <a:bodyPr wrap="square" lIns="0" tIns="0" rIns="0" bIns="0" rtlCol="0" anchor="ctr"/>
          <a:lstStyle/>
          <a:p>
            <a:pPr marL="0" indent="0">
              <a:buNone/>
            </a:pPr>
            <a:r>
              <a:rPr lang="en-US" sz="2000" b="1" dirty="0">
                <a:solidFill>
                  <a:srgbClr val="F7F9FC"/>
                </a:solidFill>
                <a:latin typeface="Calibri" pitchFamily="34" charset="0"/>
                <a:ea typeface="Calibri" pitchFamily="34" charset="-122"/>
                <a:cs typeface="Calibri" pitchFamily="34" charset="-120"/>
              </a:rPr>
              <a:t>What CI finds</a:t>
            </a:r>
            <a:endParaRPr lang="en-US" sz="2000" dirty="0"/>
          </a:p>
        </p:txBody>
      </p:sp>
      <p:sp>
        <p:nvSpPr>
          <p:cNvPr id="15" name="Text 13"/>
          <p:cNvSpPr/>
          <p:nvPr/>
        </p:nvSpPr>
        <p:spPr>
          <a:xfrm>
            <a:off x="1554480" y="3081528"/>
            <a:ext cx="7680960" cy="384048"/>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The coverage gate classifies every operation. Only unexpected Missing fails the job.</a:t>
            </a:r>
            <a:endParaRPr lang="en-US" sz="1400" dirty="0"/>
          </a:p>
        </p:txBody>
      </p:sp>
      <p:sp>
        <p:nvSpPr>
          <p:cNvPr id="16" name="Text 14"/>
          <p:cNvSpPr/>
          <p:nvPr/>
        </p:nvSpPr>
        <p:spPr>
          <a:xfrm>
            <a:off x="9601200" y="2843784"/>
            <a:ext cx="1874520" cy="384048"/>
          </a:xfrm>
          <a:prstGeom prst="rect">
            <a:avLst/>
          </a:prstGeom>
          <a:noFill/>
          <a:ln/>
        </p:spPr>
        <p:txBody>
          <a:bodyPr wrap="square" lIns="0" tIns="0" rIns="0" bIns="0" rtlCol="0" anchor="ctr"/>
          <a:lstStyle/>
          <a:p>
            <a:pPr marL="0" indent="0" algn="r">
              <a:buNone/>
            </a:pPr>
            <a:r>
              <a:rPr lang="en-US" sz="1600" b="1" dirty="0">
                <a:solidFill>
                  <a:srgbClr val="E4C58B"/>
                </a:solidFill>
                <a:latin typeface="Calibri" pitchFamily="34" charset="0"/>
                <a:ea typeface="Calibri" pitchFamily="34" charset="-122"/>
                <a:cs typeface="Calibri" pitchFamily="34" charset="-120"/>
              </a:rPr>
              <a:t>2 min</a:t>
            </a:r>
            <a:endParaRPr lang="en-US" sz="1600" dirty="0"/>
          </a:p>
        </p:txBody>
      </p:sp>
      <p:sp>
        <p:nvSpPr>
          <p:cNvPr id="17" name="Shape 15"/>
          <p:cNvSpPr/>
          <p:nvPr/>
        </p:nvSpPr>
        <p:spPr>
          <a:xfrm>
            <a:off x="411480" y="3758184"/>
            <a:ext cx="11338560" cy="1133856"/>
          </a:xfrm>
          <a:prstGeom prst="roundRect">
            <a:avLst>
              <a:gd name="adj" fmla="val 6452"/>
            </a:avLst>
          </a:prstGeom>
          <a:solidFill>
            <a:srgbClr val="132A3A"/>
          </a:solidFill>
          <a:ln w="12700">
            <a:solidFill>
              <a:srgbClr val="2A4A60"/>
            </a:solidFill>
            <a:prstDash val="solid"/>
          </a:ln>
        </p:spPr>
        <p:txBody>
          <a:bodyPr/>
          <a:lstStyle/>
          <a:p>
            <a:endParaRPr lang="en-US"/>
          </a:p>
        </p:txBody>
      </p:sp>
      <p:sp>
        <p:nvSpPr>
          <p:cNvPr id="18" name="Text 16"/>
          <p:cNvSpPr/>
          <p:nvPr/>
        </p:nvSpPr>
        <p:spPr>
          <a:xfrm>
            <a:off x="640080" y="4050792"/>
            <a:ext cx="731520" cy="502920"/>
          </a:xfrm>
          <a:prstGeom prst="rect">
            <a:avLst/>
          </a:prstGeom>
          <a:noFill/>
          <a:ln/>
        </p:spPr>
        <p:txBody>
          <a:bodyPr wrap="square" lIns="0" tIns="0" rIns="0" bIns="0" rtlCol="0" anchor="ctr"/>
          <a:lstStyle/>
          <a:p>
            <a:pPr marL="0" indent="0">
              <a:buNone/>
            </a:pPr>
            <a:r>
              <a:rPr lang="en-US" sz="2200" b="1" dirty="0">
                <a:solidFill>
                  <a:srgbClr val="3EE0C5"/>
                </a:solidFill>
                <a:latin typeface="Calibri" pitchFamily="34" charset="0"/>
                <a:ea typeface="Calibri" pitchFamily="34" charset="-122"/>
                <a:cs typeface="Calibri" pitchFamily="34" charset="-120"/>
              </a:rPr>
              <a:t>03</a:t>
            </a:r>
            <a:endParaRPr lang="en-US" sz="2200" dirty="0"/>
          </a:p>
        </p:txBody>
      </p:sp>
      <p:sp>
        <p:nvSpPr>
          <p:cNvPr id="19" name="Text 17"/>
          <p:cNvSpPr/>
          <p:nvPr/>
        </p:nvSpPr>
        <p:spPr>
          <a:xfrm>
            <a:off x="1554480" y="3922776"/>
            <a:ext cx="7498080" cy="384048"/>
          </a:xfrm>
          <a:prstGeom prst="rect">
            <a:avLst/>
          </a:prstGeom>
          <a:noFill/>
          <a:ln/>
        </p:spPr>
        <p:txBody>
          <a:bodyPr wrap="square" lIns="0" tIns="0" rIns="0" bIns="0" rtlCol="0" anchor="ctr"/>
          <a:lstStyle/>
          <a:p>
            <a:pPr marL="0" indent="0">
              <a:buNone/>
            </a:pPr>
            <a:r>
              <a:rPr lang="en-US" sz="2000" b="1" dirty="0">
                <a:solidFill>
                  <a:srgbClr val="F7F9FC"/>
                </a:solidFill>
                <a:latin typeface="Calibri" pitchFamily="34" charset="0"/>
                <a:ea typeface="Calibri" pitchFamily="34" charset="-122"/>
                <a:cs typeface="Calibri" pitchFamily="34" charset="-120"/>
              </a:rPr>
              <a:t>How the agent is bounded</a:t>
            </a:r>
            <a:endParaRPr lang="en-US" sz="2000" dirty="0"/>
          </a:p>
        </p:txBody>
      </p:sp>
      <p:sp>
        <p:nvSpPr>
          <p:cNvPr id="20" name="Text 18"/>
          <p:cNvSpPr/>
          <p:nvPr/>
        </p:nvSpPr>
        <p:spPr>
          <a:xfrm>
            <a:off x="1554480" y="4343400"/>
            <a:ext cx="7680960" cy="384048"/>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It writes Pact tests inside this framework. Upload 200 stays deferred.</a:t>
            </a:r>
            <a:endParaRPr lang="en-US" sz="1400" dirty="0"/>
          </a:p>
        </p:txBody>
      </p:sp>
      <p:sp>
        <p:nvSpPr>
          <p:cNvPr id="21" name="Text 19"/>
          <p:cNvSpPr/>
          <p:nvPr/>
        </p:nvSpPr>
        <p:spPr>
          <a:xfrm>
            <a:off x="9601200" y="4105656"/>
            <a:ext cx="1874520" cy="384048"/>
          </a:xfrm>
          <a:prstGeom prst="rect">
            <a:avLst/>
          </a:prstGeom>
          <a:noFill/>
          <a:ln/>
        </p:spPr>
        <p:txBody>
          <a:bodyPr wrap="square" lIns="0" tIns="0" rIns="0" bIns="0" rtlCol="0" anchor="ctr"/>
          <a:lstStyle/>
          <a:p>
            <a:pPr marL="0" indent="0" algn="r">
              <a:buNone/>
            </a:pPr>
            <a:r>
              <a:rPr lang="en-US" sz="1600" b="1" dirty="0">
                <a:solidFill>
                  <a:srgbClr val="E4C58B"/>
                </a:solidFill>
                <a:latin typeface="Calibri" pitchFamily="34" charset="0"/>
                <a:ea typeface="Calibri" pitchFamily="34" charset="-122"/>
                <a:cs typeface="Calibri" pitchFamily="34" charset="-120"/>
              </a:rPr>
              <a:t>2 min</a:t>
            </a:r>
            <a:endParaRPr lang="en-US" sz="1600" dirty="0"/>
          </a:p>
        </p:txBody>
      </p:sp>
      <p:sp>
        <p:nvSpPr>
          <p:cNvPr id="22" name="Shape 20"/>
          <p:cNvSpPr/>
          <p:nvPr/>
        </p:nvSpPr>
        <p:spPr>
          <a:xfrm>
            <a:off x="411480" y="5020056"/>
            <a:ext cx="11338560" cy="1133856"/>
          </a:xfrm>
          <a:prstGeom prst="roundRect">
            <a:avLst>
              <a:gd name="adj" fmla="val 6452"/>
            </a:avLst>
          </a:prstGeom>
          <a:solidFill>
            <a:srgbClr val="132A3A"/>
          </a:solidFill>
          <a:ln w="12700">
            <a:solidFill>
              <a:srgbClr val="2A4A60"/>
            </a:solidFill>
            <a:prstDash val="solid"/>
          </a:ln>
        </p:spPr>
        <p:txBody>
          <a:bodyPr/>
          <a:lstStyle/>
          <a:p>
            <a:endParaRPr lang="en-US"/>
          </a:p>
        </p:txBody>
      </p:sp>
      <p:sp>
        <p:nvSpPr>
          <p:cNvPr id="23" name="Text 21"/>
          <p:cNvSpPr/>
          <p:nvPr/>
        </p:nvSpPr>
        <p:spPr>
          <a:xfrm>
            <a:off x="640080" y="5312664"/>
            <a:ext cx="731520" cy="502920"/>
          </a:xfrm>
          <a:prstGeom prst="rect">
            <a:avLst/>
          </a:prstGeom>
          <a:noFill/>
          <a:ln/>
        </p:spPr>
        <p:txBody>
          <a:bodyPr wrap="square" lIns="0" tIns="0" rIns="0" bIns="0" rtlCol="0" anchor="ctr"/>
          <a:lstStyle/>
          <a:p>
            <a:pPr marL="0" indent="0">
              <a:buNone/>
            </a:pPr>
            <a:r>
              <a:rPr lang="en-US" sz="2200" b="1" dirty="0">
                <a:solidFill>
                  <a:srgbClr val="3EE0C5"/>
                </a:solidFill>
                <a:latin typeface="Calibri" pitchFamily="34" charset="0"/>
                <a:ea typeface="Calibri" pitchFamily="34" charset="-122"/>
                <a:cs typeface="Calibri" pitchFamily="34" charset="-120"/>
              </a:rPr>
              <a:t>04</a:t>
            </a:r>
            <a:endParaRPr lang="en-US" sz="2200" dirty="0"/>
          </a:p>
        </p:txBody>
      </p:sp>
      <p:sp>
        <p:nvSpPr>
          <p:cNvPr id="24" name="Text 22"/>
          <p:cNvSpPr/>
          <p:nvPr/>
        </p:nvSpPr>
        <p:spPr>
          <a:xfrm>
            <a:off x="1554480" y="5184648"/>
            <a:ext cx="7498080" cy="384048"/>
          </a:xfrm>
          <a:prstGeom prst="rect">
            <a:avLst/>
          </a:prstGeom>
          <a:noFill/>
          <a:ln/>
        </p:spPr>
        <p:txBody>
          <a:bodyPr wrap="square" lIns="0" tIns="0" rIns="0" bIns="0" rtlCol="0" anchor="ctr"/>
          <a:lstStyle/>
          <a:p>
            <a:pPr marL="0" indent="0">
              <a:buNone/>
            </a:pPr>
            <a:r>
              <a:rPr lang="en-US" sz="2000" b="1" dirty="0">
                <a:solidFill>
                  <a:srgbClr val="F7F9FC"/>
                </a:solidFill>
                <a:latin typeface="Calibri" pitchFamily="34" charset="0"/>
                <a:ea typeface="Calibri" pitchFamily="34" charset="-122"/>
                <a:cs typeface="Calibri" pitchFamily="34" charset="-120"/>
              </a:rPr>
              <a:t>Live close</a:t>
            </a:r>
            <a:endParaRPr lang="en-US" sz="2000" dirty="0"/>
          </a:p>
        </p:txBody>
      </p:sp>
      <p:sp>
        <p:nvSpPr>
          <p:cNvPr id="25" name="Text 23"/>
          <p:cNvSpPr/>
          <p:nvPr/>
        </p:nvSpPr>
        <p:spPr>
          <a:xfrm>
            <a:off x="1554480" y="5605272"/>
            <a:ext cx="7680960" cy="384048"/>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Point the gate at v2, show the red list, let the local agent implement, re-run to green.</a:t>
            </a:r>
            <a:endParaRPr lang="en-US" sz="1400" dirty="0"/>
          </a:p>
        </p:txBody>
      </p:sp>
      <p:sp>
        <p:nvSpPr>
          <p:cNvPr id="26" name="Text 24"/>
          <p:cNvSpPr/>
          <p:nvPr/>
        </p:nvSpPr>
        <p:spPr>
          <a:xfrm>
            <a:off x="9601200" y="5367528"/>
            <a:ext cx="1874520" cy="384048"/>
          </a:xfrm>
          <a:prstGeom prst="rect">
            <a:avLst/>
          </a:prstGeom>
          <a:noFill/>
          <a:ln/>
        </p:spPr>
        <p:txBody>
          <a:bodyPr wrap="square" lIns="0" tIns="0" rIns="0" bIns="0" rtlCol="0" anchor="ctr"/>
          <a:lstStyle/>
          <a:p>
            <a:pPr marL="0" indent="0" algn="r">
              <a:buNone/>
            </a:pPr>
            <a:r>
              <a:rPr lang="en-US" sz="1600" b="1" dirty="0">
                <a:solidFill>
                  <a:srgbClr val="E4C58B"/>
                </a:solidFill>
                <a:latin typeface="Calibri" pitchFamily="34" charset="0"/>
                <a:ea typeface="Calibri" pitchFamily="34" charset="-122"/>
                <a:cs typeface="Calibri" pitchFamily="34" charset="-120"/>
              </a:rPr>
              <a:t>4 min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03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THE SETUP</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Same Pact suite. Two Swagger generations.</a:t>
            </a:r>
            <a:endParaRPr lang="en-US" sz="2800" dirty="0"/>
          </a:p>
        </p:txBody>
      </p:sp>
      <p:sp>
        <p:nvSpPr>
          <p:cNvPr id="7" name="Text 5"/>
          <p:cNvSpPr/>
          <p:nvPr/>
        </p:nvSpPr>
        <p:spPr>
          <a:xfrm>
            <a:off x="411480" y="1078992"/>
            <a:ext cx="11338560" cy="502920"/>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CI reads the gateway URL from gateway.config.json, fetches openapi.json, and diffs every method and path against the Pact interactions on main.</a:t>
            </a:r>
            <a:endParaRPr lang="en-US" sz="1500" dirty="0"/>
          </a:p>
        </p:txBody>
      </p:sp>
      <p:sp>
        <p:nvSpPr>
          <p:cNvPr id="8" name="Shape 6"/>
          <p:cNvSpPr/>
          <p:nvPr/>
        </p:nvSpPr>
        <p:spPr>
          <a:xfrm>
            <a:off x="411480" y="1737360"/>
            <a:ext cx="5532120" cy="4434840"/>
          </a:xfrm>
          <a:prstGeom prst="roundRect">
            <a:avLst>
              <a:gd name="adj" fmla="val 1649"/>
            </a:avLst>
          </a:prstGeom>
          <a:solidFill>
            <a:srgbClr val="132A3A"/>
          </a:solidFill>
          <a:ln w="12700">
            <a:solidFill>
              <a:srgbClr val="2A4A60"/>
            </a:solidFill>
            <a:prstDash val="solid"/>
          </a:ln>
        </p:spPr>
        <p:txBody>
          <a:bodyPr/>
          <a:lstStyle/>
          <a:p>
            <a:endParaRPr lang="en-US"/>
          </a:p>
        </p:txBody>
      </p:sp>
      <p:sp>
        <p:nvSpPr>
          <p:cNvPr id="9" name="Shape 7"/>
          <p:cNvSpPr/>
          <p:nvPr/>
        </p:nvSpPr>
        <p:spPr>
          <a:xfrm>
            <a:off x="411480" y="1737360"/>
            <a:ext cx="91440" cy="4434840"/>
          </a:xfrm>
          <a:prstGeom prst="rect">
            <a:avLst/>
          </a:prstGeom>
          <a:solidFill>
            <a:srgbClr val="3DDC97"/>
          </a:solidFill>
          <a:ln w="12700">
            <a:solidFill>
              <a:srgbClr val="3DDC97"/>
            </a:solidFill>
            <a:prstDash val="solid"/>
          </a:ln>
        </p:spPr>
        <p:txBody>
          <a:bodyPr/>
          <a:lstStyle/>
          <a:p>
            <a:endParaRPr lang="en-US"/>
          </a:p>
        </p:txBody>
      </p:sp>
      <p:sp>
        <p:nvSpPr>
          <p:cNvPr id="10" name="Text 8"/>
          <p:cNvSpPr/>
          <p:nvPr/>
        </p:nvSpPr>
        <p:spPr>
          <a:xfrm>
            <a:off x="777240" y="1920240"/>
            <a:ext cx="4937760" cy="256032"/>
          </a:xfrm>
          <a:prstGeom prst="rect">
            <a:avLst/>
          </a:prstGeom>
          <a:noFill/>
          <a:ln/>
        </p:spPr>
        <p:txBody>
          <a:bodyPr wrap="square" lIns="0" tIns="0" rIns="0" bIns="0" rtlCol="0" anchor="ctr"/>
          <a:lstStyle/>
          <a:p>
            <a:pPr marL="0" indent="0">
              <a:buNone/>
            </a:pPr>
            <a:r>
              <a:rPr lang="en-US" sz="1200" b="1" dirty="0">
                <a:solidFill>
                  <a:srgbClr val="3DDC97"/>
                </a:solidFill>
                <a:latin typeface="Calibri" pitchFamily="34" charset="0"/>
                <a:ea typeface="Calibri" pitchFamily="34" charset="-122"/>
                <a:cs typeface="Calibri" pitchFamily="34" charset="-120"/>
              </a:rPr>
              <a:t>API VERSION WE CONTRACT TODAY</a:t>
            </a:r>
            <a:endParaRPr lang="en-US" sz="1200" dirty="0"/>
          </a:p>
        </p:txBody>
      </p:sp>
      <p:sp>
        <p:nvSpPr>
          <p:cNvPr id="11" name="Text 9"/>
          <p:cNvSpPr/>
          <p:nvPr/>
        </p:nvSpPr>
        <p:spPr>
          <a:xfrm>
            <a:off x="777240" y="2212848"/>
            <a:ext cx="4846320" cy="548640"/>
          </a:xfrm>
          <a:prstGeom prst="rect">
            <a:avLst/>
          </a:prstGeom>
          <a:noFill/>
          <a:ln/>
        </p:spPr>
        <p:txBody>
          <a:bodyPr wrap="square" lIns="0" tIns="0" rIns="0" bIns="0" rtlCol="0" anchor="ctr"/>
          <a:lstStyle/>
          <a:p>
            <a:pPr marL="0" indent="0">
              <a:buNone/>
            </a:pPr>
            <a:r>
              <a:rPr lang="en-US" sz="3600" b="1" dirty="0">
                <a:solidFill>
                  <a:srgbClr val="F7F9FC"/>
                </a:solidFill>
                <a:latin typeface="Calibri" pitchFamily="34" charset="0"/>
                <a:ea typeface="Calibri" pitchFamily="34" charset="-122"/>
                <a:cs typeface="Calibri" pitchFamily="34" charset="-120"/>
              </a:rPr>
              <a:t>main</a:t>
            </a:r>
            <a:endParaRPr lang="en-US" sz="3600" dirty="0"/>
          </a:p>
        </p:txBody>
      </p:sp>
      <p:sp>
        <p:nvSpPr>
          <p:cNvPr id="12" name="Text 10"/>
          <p:cNvSpPr/>
          <p:nvPr/>
        </p:nvSpPr>
        <p:spPr>
          <a:xfrm>
            <a:off x="777240" y="2971800"/>
            <a:ext cx="4846320" cy="274320"/>
          </a:xfrm>
          <a:prstGeom prst="rect">
            <a:avLst/>
          </a:prstGeom>
          <a:noFill/>
          <a:ln/>
        </p:spPr>
        <p:txBody>
          <a:bodyPr wrap="square" lIns="0" tIns="0" rIns="0" bIns="0" rtlCol="0" anchor="ctr"/>
          <a:lstStyle/>
          <a:p>
            <a:pPr marL="0" indent="0">
              <a:buNone/>
            </a:pPr>
            <a:r>
              <a:rPr lang="en-US" sz="1400" b="1" dirty="0">
                <a:solidFill>
                  <a:srgbClr val="E4C58B"/>
                </a:solidFill>
                <a:latin typeface="Calibri" pitchFamily="34" charset="0"/>
                <a:ea typeface="Calibri" pitchFamily="34" charset="-122"/>
                <a:cs typeface="Calibri" pitchFamily="34" charset="-120"/>
              </a:rPr>
              <a:t>Pact consumers</a:t>
            </a:r>
            <a:endParaRPr lang="en-US" sz="1400" dirty="0"/>
          </a:p>
        </p:txBody>
      </p:sp>
      <p:sp>
        <p:nvSpPr>
          <p:cNvPr id="13" name="Text 11"/>
          <p:cNvSpPr/>
          <p:nvPr/>
        </p:nvSpPr>
        <p:spPr>
          <a:xfrm>
            <a:off x="777240" y="3246120"/>
            <a:ext cx="4846320" cy="365760"/>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CT-00 through CT-17, peers, gateway, filing GETs</a:t>
            </a:r>
            <a:endParaRPr lang="en-US" sz="1500" dirty="0"/>
          </a:p>
        </p:txBody>
      </p:sp>
      <p:sp>
        <p:nvSpPr>
          <p:cNvPr id="14" name="Text 12"/>
          <p:cNvSpPr/>
          <p:nvPr/>
        </p:nvSpPr>
        <p:spPr>
          <a:xfrm>
            <a:off x="777240" y="3886200"/>
            <a:ext cx="4846320" cy="274320"/>
          </a:xfrm>
          <a:prstGeom prst="rect">
            <a:avLst/>
          </a:prstGeom>
          <a:noFill/>
          <a:ln/>
        </p:spPr>
        <p:txBody>
          <a:bodyPr wrap="square" lIns="0" tIns="0" rIns="0" bIns="0" rtlCol="0" anchor="ctr"/>
          <a:lstStyle/>
          <a:p>
            <a:pPr marL="0" indent="0">
              <a:buNone/>
            </a:pPr>
            <a:r>
              <a:rPr lang="en-US" sz="1400" b="1" dirty="0">
                <a:solidFill>
                  <a:srgbClr val="E4C58B"/>
                </a:solidFill>
                <a:latin typeface="Calibri" pitchFamily="34" charset="0"/>
                <a:ea typeface="Calibri" pitchFamily="34" charset="-122"/>
                <a:cs typeface="Calibri" pitchFamily="34" charset="-120"/>
              </a:rPr>
              <a:t>Providers</a:t>
            </a:r>
            <a:endParaRPr lang="en-US" sz="1400" dirty="0"/>
          </a:p>
        </p:txBody>
      </p:sp>
      <p:sp>
        <p:nvSpPr>
          <p:cNvPr id="15" name="Text 13"/>
          <p:cNvSpPr/>
          <p:nvPr/>
        </p:nvSpPr>
        <p:spPr>
          <a:xfrm>
            <a:off x="777240" y="4160520"/>
            <a:ext cx="4846320" cy="365760"/>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CLM, MDM, ACC, TAX, ALC, DOC, Gateway</a:t>
            </a:r>
            <a:endParaRPr lang="en-US" sz="1500" dirty="0"/>
          </a:p>
        </p:txBody>
      </p:sp>
      <p:sp>
        <p:nvSpPr>
          <p:cNvPr id="16" name="Text 14"/>
          <p:cNvSpPr/>
          <p:nvPr/>
        </p:nvSpPr>
        <p:spPr>
          <a:xfrm>
            <a:off x="777240" y="4800600"/>
            <a:ext cx="4846320" cy="274320"/>
          </a:xfrm>
          <a:prstGeom prst="rect">
            <a:avLst/>
          </a:prstGeom>
          <a:noFill/>
          <a:ln/>
        </p:spPr>
        <p:txBody>
          <a:bodyPr wrap="square" lIns="0" tIns="0" rIns="0" bIns="0" rtlCol="0" anchor="ctr"/>
          <a:lstStyle/>
          <a:p>
            <a:pPr marL="0" indent="0">
              <a:buNone/>
            </a:pPr>
            <a:r>
              <a:rPr lang="en-US" sz="1400" b="1" dirty="0">
                <a:solidFill>
                  <a:srgbClr val="E4C58B"/>
                </a:solidFill>
                <a:latin typeface="Calibri" pitchFamily="34" charset="0"/>
                <a:ea typeface="Calibri" pitchFamily="34" charset="-122"/>
                <a:cs typeface="Calibri" pitchFamily="34" charset="-120"/>
              </a:rPr>
              <a:t>Current gate</a:t>
            </a:r>
            <a:endParaRPr lang="en-US" sz="1400" dirty="0"/>
          </a:p>
        </p:txBody>
      </p:sp>
      <p:sp>
        <p:nvSpPr>
          <p:cNvPr id="17" name="Text 15"/>
          <p:cNvSpPr/>
          <p:nvPr/>
        </p:nvSpPr>
        <p:spPr>
          <a:xfrm>
            <a:off x="777240" y="5074920"/>
            <a:ext cx="4846320" cy="365760"/>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107 operations, 107 covered, 0 missing</a:t>
            </a:r>
            <a:endParaRPr lang="en-US" sz="1500" dirty="0"/>
          </a:p>
        </p:txBody>
      </p:sp>
      <p:sp>
        <p:nvSpPr>
          <p:cNvPr id="18" name="Shape 16"/>
          <p:cNvSpPr/>
          <p:nvPr/>
        </p:nvSpPr>
        <p:spPr>
          <a:xfrm>
            <a:off x="6217920" y="1737360"/>
            <a:ext cx="5532120" cy="4434840"/>
          </a:xfrm>
          <a:prstGeom prst="roundRect">
            <a:avLst>
              <a:gd name="adj" fmla="val 1649"/>
            </a:avLst>
          </a:prstGeom>
          <a:solidFill>
            <a:srgbClr val="132A3A"/>
          </a:solidFill>
          <a:ln w="12700">
            <a:solidFill>
              <a:srgbClr val="2A4A60"/>
            </a:solidFill>
            <a:prstDash val="solid"/>
          </a:ln>
        </p:spPr>
        <p:txBody>
          <a:bodyPr/>
          <a:lstStyle/>
          <a:p>
            <a:endParaRPr lang="en-US"/>
          </a:p>
        </p:txBody>
      </p:sp>
      <p:sp>
        <p:nvSpPr>
          <p:cNvPr id="19" name="Shape 17"/>
          <p:cNvSpPr/>
          <p:nvPr/>
        </p:nvSpPr>
        <p:spPr>
          <a:xfrm>
            <a:off x="6217920" y="1737360"/>
            <a:ext cx="91440" cy="4434840"/>
          </a:xfrm>
          <a:prstGeom prst="rect">
            <a:avLst/>
          </a:prstGeom>
          <a:solidFill>
            <a:srgbClr val="F0B429"/>
          </a:solidFill>
          <a:ln w="12700">
            <a:solidFill>
              <a:srgbClr val="F0B429"/>
            </a:solidFill>
            <a:prstDash val="solid"/>
          </a:ln>
        </p:spPr>
        <p:txBody>
          <a:bodyPr/>
          <a:lstStyle/>
          <a:p>
            <a:endParaRPr lang="en-US"/>
          </a:p>
        </p:txBody>
      </p:sp>
      <p:sp>
        <p:nvSpPr>
          <p:cNvPr id="20" name="Text 18"/>
          <p:cNvSpPr/>
          <p:nvPr/>
        </p:nvSpPr>
        <p:spPr>
          <a:xfrm>
            <a:off x="6583680" y="1920240"/>
            <a:ext cx="4937760" cy="256032"/>
          </a:xfrm>
          <a:prstGeom prst="rect">
            <a:avLst/>
          </a:prstGeom>
          <a:noFill/>
          <a:ln/>
        </p:spPr>
        <p:txBody>
          <a:bodyPr wrap="square" lIns="0" tIns="0" rIns="0" bIns="0" rtlCol="0" anchor="ctr"/>
          <a:lstStyle/>
          <a:p>
            <a:pPr marL="0" indent="0">
              <a:buNone/>
            </a:pPr>
            <a:r>
              <a:rPr lang="en-US" sz="1200" b="1" dirty="0">
                <a:solidFill>
                  <a:srgbClr val="F0B429"/>
                </a:solidFill>
                <a:latin typeface="Calibri" pitchFamily="34" charset="0"/>
                <a:ea typeface="Calibri" pitchFamily="34" charset="-122"/>
                <a:cs typeface="Calibri" pitchFamily="34" charset="-120"/>
              </a:rPr>
              <a:t>API VERSION UNDER TEST</a:t>
            </a:r>
            <a:endParaRPr lang="en-US" sz="1200" dirty="0"/>
          </a:p>
        </p:txBody>
      </p:sp>
      <p:sp>
        <p:nvSpPr>
          <p:cNvPr id="21" name="Text 19"/>
          <p:cNvSpPr/>
          <p:nvPr/>
        </p:nvSpPr>
        <p:spPr>
          <a:xfrm>
            <a:off x="6583680" y="2212848"/>
            <a:ext cx="4846320" cy="548640"/>
          </a:xfrm>
          <a:prstGeom prst="rect">
            <a:avLst/>
          </a:prstGeom>
          <a:noFill/>
          <a:ln/>
        </p:spPr>
        <p:txBody>
          <a:bodyPr wrap="square" lIns="0" tIns="0" rIns="0" bIns="0" rtlCol="0" anchor="ctr"/>
          <a:lstStyle/>
          <a:p>
            <a:pPr marL="0" indent="0">
              <a:buNone/>
            </a:pPr>
            <a:r>
              <a:rPr lang="en-US" sz="3600" b="1" dirty="0">
                <a:solidFill>
                  <a:srgbClr val="F7F9FC"/>
                </a:solidFill>
                <a:latin typeface="Calibri" pitchFamily="34" charset="0"/>
                <a:ea typeface="Calibri" pitchFamily="34" charset="-122"/>
                <a:cs typeface="Calibri" pitchFamily="34" charset="-120"/>
              </a:rPr>
              <a:t>v2</a:t>
            </a:r>
            <a:endParaRPr lang="en-US" sz="3600" dirty="0"/>
          </a:p>
        </p:txBody>
      </p:sp>
      <p:sp>
        <p:nvSpPr>
          <p:cNvPr id="22" name="Text 20"/>
          <p:cNvSpPr/>
          <p:nvPr/>
        </p:nvSpPr>
        <p:spPr>
          <a:xfrm>
            <a:off x="6583680" y="2971800"/>
            <a:ext cx="4846320" cy="274320"/>
          </a:xfrm>
          <a:prstGeom prst="rect">
            <a:avLst/>
          </a:prstGeom>
          <a:noFill/>
          <a:ln/>
        </p:spPr>
        <p:txBody>
          <a:bodyPr wrap="square" lIns="0" tIns="0" rIns="0" bIns="0" rtlCol="0" anchor="ctr"/>
          <a:lstStyle/>
          <a:p>
            <a:pPr marL="0" indent="0">
              <a:buNone/>
            </a:pPr>
            <a:r>
              <a:rPr lang="en-US" sz="1400" b="1" dirty="0">
                <a:solidFill>
                  <a:srgbClr val="E4C58B"/>
                </a:solidFill>
                <a:latin typeface="Calibri" pitchFamily="34" charset="0"/>
                <a:ea typeface="Calibri" pitchFamily="34" charset="-122"/>
                <a:cs typeface="Calibri" pitchFamily="34" charset="-120"/>
              </a:rPr>
              <a:t>Latest Swagger</a:t>
            </a:r>
            <a:endParaRPr lang="en-US" sz="1400" dirty="0"/>
          </a:p>
        </p:txBody>
      </p:sp>
      <p:sp>
        <p:nvSpPr>
          <p:cNvPr id="23" name="Text 21"/>
          <p:cNvSpPr/>
          <p:nvPr/>
        </p:nvSpPr>
        <p:spPr>
          <a:xfrm>
            <a:off x="6583680" y="3246120"/>
            <a:ext cx="4846320" cy="438912"/>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New or changed operations show up in openapi.json first</a:t>
            </a:r>
            <a:endParaRPr lang="en-US" sz="1500" dirty="0"/>
          </a:p>
        </p:txBody>
      </p:sp>
      <p:sp>
        <p:nvSpPr>
          <p:cNvPr id="24" name="Text 22"/>
          <p:cNvSpPr/>
          <p:nvPr/>
        </p:nvSpPr>
        <p:spPr>
          <a:xfrm>
            <a:off x="6583680" y="3886200"/>
            <a:ext cx="4846320" cy="274320"/>
          </a:xfrm>
          <a:prstGeom prst="rect">
            <a:avLst/>
          </a:prstGeom>
          <a:noFill/>
          <a:ln/>
        </p:spPr>
        <p:txBody>
          <a:bodyPr wrap="square" lIns="0" tIns="0" rIns="0" bIns="0" rtlCol="0" anchor="ctr"/>
          <a:lstStyle/>
          <a:p>
            <a:pPr marL="0" indent="0">
              <a:buNone/>
            </a:pPr>
            <a:r>
              <a:rPr lang="en-US" sz="1400" b="1" dirty="0">
                <a:solidFill>
                  <a:srgbClr val="E4C58B"/>
                </a:solidFill>
                <a:latin typeface="Calibri" pitchFamily="34" charset="0"/>
                <a:ea typeface="Calibri" pitchFamily="34" charset="-122"/>
                <a:cs typeface="Calibri" pitchFamily="34" charset="-120"/>
              </a:rPr>
              <a:t>Same repo</a:t>
            </a:r>
            <a:endParaRPr lang="en-US" sz="1400" dirty="0"/>
          </a:p>
        </p:txBody>
      </p:sp>
      <p:sp>
        <p:nvSpPr>
          <p:cNvPr id="25" name="Text 23"/>
          <p:cNvSpPr/>
          <p:nvPr/>
        </p:nvSpPr>
        <p:spPr>
          <a:xfrm>
            <a:off x="6583680" y="4160520"/>
            <a:ext cx="4846320" cy="438912"/>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Consumer specs and pacts have not caught up yet</a:t>
            </a:r>
            <a:endParaRPr lang="en-US" sz="1500" dirty="0"/>
          </a:p>
        </p:txBody>
      </p:sp>
      <p:sp>
        <p:nvSpPr>
          <p:cNvPr id="26" name="Text 24"/>
          <p:cNvSpPr/>
          <p:nvPr/>
        </p:nvSpPr>
        <p:spPr>
          <a:xfrm>
            <a:off x="6583680" y="4800600"/>
            <a:ext cx="4846320" cy="274320"/>
          </a:xfrm>
          <a:prstGeom prst="rect">
            <a:avLst/>
          </a:prstGeom>
          <a:noFill/>
          <a:ln/>
        </p:spPr>
        <p:txBody>
          <a:bodyPr wrap="square" lIns="0" tIns="0" rIns="0" bIns="0" rtlCol="0" anchor="ctr"/>
          <a:lstStyle/>
          <a:p>
            <a:pPr marL="0" indent="0">
              <a:buNone/>
            </a:pPr>
            <a:r>
              <a:rPr lang="en-US" sz="1400" b="1" dirty="0">
                <a:solidFill>
                  <a:srgbClr val="E4C58B"/>
                </a:solidFill>
                <a:latin typeface="Calibri" pitchFamily="34" charset="0"/>
                <a:ea typeface="Calibri" pitchFamily="34" charset="-122"/>
                <a:cs typeface="Calibri" pitchFamily="34" charset="-120"/>
              </a:rPr>
              <a:t>Demo switch</a:t>
            </a:r>
            <a:endParaRPr lang="en-US" sz="1400" dirty="0"/>
          </a:p>
        </p:txBody>
      </p:sp>
      <p:sp>
        <p:nvSpPr>
          <p:cNvPr id="27" name="Text 25"/>
          <p:cNvSpPr/>
          <p:nvPr/>
        </p:nvSpPr>
        <p:spPr>
          <a:xfrm>
            <a:off x="6583680" y="5074920"/>
            <a:ext cx="4846320" cy="438912"/>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Set gatewayBaseUrl to the v2 host, then npm run sync:gateway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04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ALREADY IN CI</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The gate that goes red on v2</a:t>
            </a:r>
            <a:endParaRPr lang="en-US" sz="2800" dirty="0"/>
          </a:p>
        </p:txBody>
      </p:sp>
      <p:sp>
        <p:nvSpPr>
          <p:cNvPr id="7" name="Text 5"/>
          <p:cNvSpPr/>
          <p:nvPr/>
        </p:nvSpPr>
        <p:spPr>
          <a:xfrm>
            <a:off x="411480" y="1060704"/>
            <a:ext cx="11247120" cy="329184"/>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GitHub Actions and Azure DevOps both run this gate. The model runs later. This gate is what fails the build.</a:t>
            </a:r>
            <a:endParaRPr lang="en-US" sz="1500" dirty="0"/>
          </a:p>
        </p:txBody>
      </p:sp>
      <p:sp>
        <p:nvSpPr>
          <p:cNvPr id="8" name="Shape 6"/>
          <p:cNvSpPr/>
          <p:nvPr/>
        </p:nvSpPr>
        <p:spPr>
          <a:xfrm>
            <a:off x="411480" y="1554480"/>
            <a:ext cx="2761488" cy="3794760"/>
          </a:xfrm>
          <a:prstGeom prst="roundRect">
            <a:avLst>
              <a:gd name="adj" fmla="val 2649"/>
            </a:avLst>
          </a:prstGeom>
          <a:solidFill>
            <a:srgbClr val="132A3A"/>
          </a:solidFill>
          <a:ln w="12700">
            <a:solidFill>
              <a:srgbClr val="2A4A60"/>
            </a:solidFill>
            <a:prstDash val="solid"/>
          </a:ln>
        </p:spPr>
        <p:txBody>
          <a:bodyPr/>
          <a:lstStyle/>
          <a:p>
            <a:endParaRPr lang="en-US"/>
          </a:p>
        </p:txBody>
      </p:sp>
      <p:sp>
        <p:nvSpPr>
          <p:cNvPr id="9" name="Text 7"/>
          <p:cNvSpPr/>
          <p:nvPr/>
        </p:nvSpPr>
        <p:spPr>
          <a:xfrm>
            <a:off x="594360" y="1719072"/>
            <a:ext cx="2377440" cy="365760"/>
          </a:xfrm>
          <a:prstGeom prst="rect">
            <a:avLst/>
          </a:prstGeom>
          <a:noFill/>
          <a:ln/>
        </p:spPr>
        <p:txBody>
          <a:bodyPr wrap="square" lIns="0" tIns="0" rIns="0" bIns="0" rtlCol="0" anchor="ctr"/>
          <a:lstStyle/>
          <a:p>
            <a:pPr marL="0" indent="0">
              <a:buNone/>
            </a:pPr>
            <a:r>
              <a:rPr lang="en-US" sz="1800" b="1" dirty="0">
                <a:solidFill>
                  <a:srgbClr val="3EE0C5"/>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594360" y="2148840"/>
            <a:ext cx="2395728" cy="384048"/>
          </a:xfrm>
          <a:prstGeom prst="rect">
            <a:avLst/>
          </a:prstGeom>
          <a:noFill/>
          <a:ln/>
        </p:spPr>
        <p:txBody>
          <a:bodyPr wrap="square" lIns="0" tIns="0" rIns="0" bIns="0" rtlCol="0" anchor="ctr"/>
          <a:lstStyle/>
          <a:p>
            <a:pPr marL="0" indent="0">
              <a:buNone/>
            </a:pPr>
            <a:r>
              <a:rPr lang="en-US" sz="2000" b="1" dirty="0">
                <a:solidFill>
                  <a:srgbClr val="F7F9FC"/>
                </a:solidFill>
                <a:latin typeface="Calibri" pitchFamily="34" charset="0"/>
                <a:ea typeface="Calibri" pitchFamily="34" charset="-122"/>
                <a:cs typeface="Calibri" pitchFamily="34" charset="-120"/>
              </a:rPr>
              <a:t>Consumer</a:t>
            </a:r>
            <a:endParaRPr lang="en-US" sz="2000" dirty="0"/>
          </a:p>
        </p:txBody>
      </p:sp>
      <p:sp>
        <p:nvSpPr>
          <p:cNvPr id="11" name="Text 9"/>
          <p:cNvSpPr/>
          <p:nvPr/>
        </p:nvSpPr>
        <p:spPr>
          <a:xfrm>
            <a:off x="594360" y="2651760"/>
            <a:ext cx="2395728" cy="777240"/>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Generate pact files from the suite.</a:t>
            </a:r>
            <a:endParaRPr lang="en-US" sz="1400" dirty="0"/>
          </a:p>
        </p:txBody>
      </p:sp>
      <p:sp>
        <p:nvSpPr>
          <p:cNvPr id="12" name="Text 10"/>
          <p:cNvSpPr/>
          <p:nvPr/>
        </p:nvSpPr>
        <p:spPr>
          <a:xfrm>
            <a:off x="594360" y="3566160"/>
            <a:ext cx="2395728" cy="640080"/>
          </a:xfrm>
          <a:prstGeom prst="rect">
            <a:avLst/>
          </a:prstGeom>
          <a:noFill/>
          <a:ln/>
        </p:spPr>
        <p:txBody>
          <a:bodyPr wrap="square" lIns="0" tIns="0" rIns="0" bIns="0" rtlCol="0" anchor="ctr"/>
          <a:lstStyle/>
          <a:p>
            <a:pPr marL="0" indent="0">
              <a:buNone/>
            </a:pPr>
            <a:r>
              <a:rPr lang="en-US" sz="1100" dirty="0">
                <a:solidFill>
                  <a:srgbClr val="E4C58B"/>
                </a:solidFill>
                <a:latin typeface="Consolas" pitchFamily="34" charset="0"/>
                <a:ea typeface="Consolas" pitchFamily="34" charset="-122"/>
                <a:cs typeface="Consolas" pitchFamily="34" charset="-120"/>
              </a:rPr>
              <a:t>test:contract:consumer-only</a:t>
            </a:r>
            <a:endParaRPr lang="en-US" sz="1100" dirty="0"/>
          </a:p>
        </p:txBody>
      </p:sp>
      <p:sp>
        <p:nvSpPr>
          <p:cNvPr id="13" name="Text 11"/>
          <p:cNvSpPr/>
          <p:nvPr/>
        </p:nvSpPr>
        <p:spPr>
          <a:xfrm>
            <a:off x="594360" y="4343400"/>
            <a:ext cx="2395728" cy="640080"/>
          </a:xfrm>
          <a:prstGeom prst="rect">
            <a:avLst/>
          </a:prstGeom>
          <a:noFill/>
          <a:ln/>
        </p:spPr>
        <p:txBody>
          <a:bodyPr wrap="square" lIns="0" tIns="0" rIns="0" bIns="0" rtlCol="0" anchor="ctr"/>
          <a:lstStyle/>
          <a:p>
            <a:pPr marL="0" indent="0">
              <a:buNone/>
            </a:pPr>
            <a:r>
              <a:rPr lang="en-US" sz="1300" dirty="0">
                <a:solidFill>
                  <a:srgbClr val="8AA0B5"/>
                </a:solidFill>
                <a:latin typeface="Calibri" pitchFamily="34" charset="0"/>
                <a:ea typeface="Calibri" pitchFamily="34" charset="-122"/>
                <a:cs typeface="Calibri" pitchFamily="34" charset="-120"/>
              </a:rPr>
              <a:t>Full suite, every module.</a:t>
            </a:r>
            <a:endParaRPr lang="en-US" sz="1300" dirty="0"/>
          </a:p>
        </p:txBody>
      </p:sp>
      <p:sp>
        <p:nvSpPr>
          <p:cNvPr id="14" name="Shape 12"/>
          <p:cNvSpPr/>
          <p:nvPr/>
        </p:nvSpPr>
        <p:spPr>
          <a:xfrm>
            <a:off x="3337560" y="1554480"/>
            <a:ext cx="2761488" cy="3794760"/>
          </a:xfrm>
          <a:prstGeom prst="roundRect">
            <a:avLst>
              <a:gd name="adj" fmla="val 2649"/>
            </a:avLst>
          </a:prstGeom>
          <a:solidFill>
            <a:srgbClr val="132A3A"/>
          </a:solidFill>
          <a:ln w="12700">
            <a:solidFill>
              <a:srgbClr val="2A4A60"/>
            </a:solidFill>
            <a:prstDash val="solid"/>
          </a:ln>
        </p:spPr>
        <p:txBody>
          <a:bodyPr/>
          <a:lstStyle/>
          <a:p>
            <a:endParaRPr lang="en-US"/>
          </a:p>
        </p:txBody>
      </p:sp>
      <p:sp>
        <p:nvSpPr>
          <p:cNvPr id="15" name="Text 13"/>
          <p:cNvSpPr/>
          <p:nvPr/>
        </p:nvSpPr>
        <p:spPr>
          <a:xfrm>
            <a:off x="3520440" y="1719072"/>
            <a:ext cx="2377440" cy="365760"/>
          </a:xfrm>
          <a:prstGeom prst="rect">
            <a:avLst/>
          </a:prstGeom>
          <a:noFill/>
          <a:ln/>
        </p:spPr>
        <p:txBody>
          <a:bodyPr wrap="square" lIns="0" tIns="0" rIns="0" bIns="0" rtlCol="0" anchor="ctr"/>
          <a:lstStyle/>
          <a:p>
            <a:pPr marL="0" indent="0">
              <a:buNone/>
            </a:pPr>
            <a:r>
              <a:rPr lang="en-US" sz="1800" b="1" dirty="0">
                <a:solidFill>
                  <a:srgbClr val="3EE0C5"/>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3520440" y="2148840"/>
            <a:ext cx="2395728" cy="384048"/>
          </a:xfrm>
          <a:prstGeom prst="rect">
            <a:avLst/>
          </a:prstGeom>
          <a:noFill/>
          <a:ln/>
        </p:spPr>
        <p:txBody>
          <a:bodyPr wrap="square" lIns="0" tIns="0" rIns="0" bIns="0" rtlCol="0" anchor="ctr"/>
          <a:lstStyle/>
          <a:p>
            <a:pPr marL="0" indent="0">
              <a:buNone/>
            </a:pPr>
            <a:r>
              <a:rPr lang="en-US" sz="2000" b="1" dirty="0">
                <a:solidFill>
                  <a:srgbClr val="F7F9FC"/>
                </a:solidFill>
                <a:latin typeface="Calibri" pitchFamily="34" charset="0"/>
                <a:ea typeface="Calibri" pitchFamily="34" charset="-122"/>
                <a:cs typeface="Calibri" pitchFamily="34" charset="-120"/>
              </a:rPr>
              <a:t>Swagger gate</a:t>
            </a:r>
            <a:endParaRPr lang="en-US" sz="2000" dirty="0"/>
          </a:p>
        </p:txBody>
      </p:sp>
      <p:sp>
        <p:nvSpPr>
          <p:cNvPr id="17" name="Text 15"/>
          <p:cNvSpPr/>
          <p:nvPr/>
        </p:nvSpPr>
        <p:spPr>
          <a:xfrm>
            <a:off x="3520440" y="2651760"/>
            <a:ext cx="2395728" cy="777240"/>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Diff live OpenAPI against those pacts.</a:t>
            </a:r>
            <a:endParaRPr lang="en-US" sz="1400" dirty="0"/>
          </a:p>
        </p:txBody>
      </p:sp>
      <p:sp>
        <p:nvSpPr>
          <p:cNvPr id="18" name="Text 16"/>
          <p:cNvSpPr/>
          <p:nvPr/>
        </p:nvSpPr>
        <p:spPr>
          <a:xfrm>
            <a:off x="3520440" y="3566160"/>
            <a:ext cx="2395728" cy="640080"/>
          </a:xfrm>
          <a:prstGeom prst="rect">
            <a:avLst/>
          </a:prstGeom>
          <a:noFill/>
          <a:ln/>
        </p:spPr>
        <p:txBody>
          <a:bodyPr wrap="square" lIns="0" tIns="0" rIns="0" bIns="0" rtlCol="0" anchor="ctr"/>
          <a:lstStyle/>
          <a:p>
            <a:pPr marL="0" indent="0">
              <a:buNone/>
            </a:pPr>
            <a:r>
              <a:rPr lang="en-US" sz="1100" dirty="0">
                <a:solidFill>
                  <a:srgbClr val="E4C58B"/>
                </a:solidFill>
                <a:latin typeface="Consolas" pitchFamily="34" charset="0"/>
                <a:ea typeface="Consolas" pitchFamily="34" charset="-122"/>
                <a:cs typeface="Consolas" pitchFamily="34" charset="-120"/>
              </a:rPr>
              <a:t>test:swagger-coverage:ci</a:t>
            </a:r>
            <a:endParaRPr lang="en-US" sz="1100" dirty="0"/>
          </a:p>
        </p:txBody>
      </p:sp>
      <p:sp>
        <p:nvSpPr>
          <p:cNvPr id="19" name="Text 17"/>
          <p:cNvSpPr/>
          <p:nvPr/>
        </p:nvSpPr>
        <p:spPr>
          <a:xfrm>
            <a:off x="3520440" y="4343400"/>
            <a:ext cx="2395728" cy="640080"/>
          </a:xfrm>
          <a:prstGeom prst="rect">
            <a:avLst/>
          </a:prstGeom>
          <a:noFill/>
          <a:ln/>
        </p:spPr>
        <p:txBody>
          <a:bodyPr wrap="square" lIns="0" tIns="0" rIns="0" bIns="0" rtlCol="0" anchor="ctr"/>
          <a:lstStyle/>
          <a:p>
            <a:pPr marL="0" indent="0">
              <a:buNone/>
            </a:pPr>
            <a:r>
              <a:rPr lang="en-US" sz="1300" dirty="0">
                <a:solidFill>
                  <a:srgbClr val="8AA0B5"/>
                </a:solidFill>
                <a:latin typeface="Calibri" pitchFamily="34" charset="0"/>
                <a:ea typeface="Calibri" pitchFamily="34" charset="-122"/>
                <a:cs typeface="Calibri" pitchFamily="34" charset="-120"/>
              </a:rPr>
              <a:t>Exit 1 when Missing is not zero.</a:t>
            </a:r>
            <a:endParaRPr lang="en-US" sz="1300" dirty="0"/>
          </a:p>
        </p:txBody>
      </p:sp>
      <p:sp>
        <p:nvSpPr>
          <p:cNvPr id="20" name="Shape 18"/>
          <p:cNvSpPr/>
          <p:nvPr/>
        </p:nvSpPr>
        <p:spPr>
          <a:xfrm>
            <a:off x="6263640" y="1554480"/>
            <a:ext cx="2761488" cy="3794760"/>
          </a:xfrm>
          <a:prstGeom prst="roundRect">
            <a:avLst>
              <a:gd name="adj" fmla="val 2649"/>
            </a:avLst>
          </a:prstGeom>
          <a:solidFill>
            <a:srgbClr val="132A3A"/>
          </a:solidFill>
          <a:ln w="12700">
            <a:solidFill>
              <a:srgbClr val="2A4A60"/>
            </a:solidFill>
            <a:prstDash val="solid"/>
          </a:ln>
        </p:spPr>
        <p:txBody>
          <a:bodyPr/>
          <a:lstStyle/>
          <a:p>
            <a:endParaRPr lang="en-US"/>
          </a:p>
        </p:txBody>
      </p:sp>
      <p:sp>
        <p:nvSpPr>
          <p:cNvPr id="21" name="Text 19"/>
          <p:cNvSpPr/>
          <p:nvPr/>
        </p:nvSpPr>
        <p:spPr>
          <a:xfrm>
            <a:off x="6446520" y="1719072"/>
            <a:ext cx="2377440" cy="365760"/>
          </a:xfrm>
          <a:prstGeom prst="rect">
            <a:avLst/>
          </a:prstGeom>
          <a:noFill/>
          <a:ln/>
        </p:spPr>
        <p:txBody>
          <a:bodyPr wrap="square" lIns="0" tIns="0" rIns="0" bIns="0" rtlCol="0" anchor="ctr"/>
          <a:lstStyle/>
          <a:p>
            <a:pPr marL="0" indent="0">
              <a:buNone/>
            </a:pPr>
            <a:r>
              <a:rPr lang="en-US" sz="1800" b="1" dirty="0">
                <a:solidFill>
                  <a:srgbClr val="3EE0C5"/>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6446520" y="2148840"/>
            <a:ext cx="2395728" cy="384048"/>
          </a:xfrm>
          <a:prstGeom prst="rect">
            <a:avLst/>
          </a:prstGeom>
          <a:noFill/>
          <a:ln/>
        </p:spPr>
        <p:txBody>
          <a:bodyPr wrap="square" lIns="0" tIns="0" rIns="0" bIns="0" rtlCol="0" anchor="ctr"/>
          <a:lstStyle/>
          <a:p>
            <a:pPr marL="0" indent="0">
              <a:buNone/>
            </a:pPr>
            <a:r>
              <a:rPr lang="en-US" sz="2000" b="1" dirty="0">
                <a:solidFill>
                  <a:srgbClr val="F7F9FC"/>
                </a:solidFill>
                <a:latin typeface="Calibri" pitchFamily="34" charset="0"/>
                <a:ea typeface="Calibri" pitchFamily="34" charset="-122"/>
                <a:cs typeface="Calibri" pitchFamily="34" charset="-120"/>
              </a:rPr>
              <a:t>Provider</a:t>
            </a:r>
            <a:endParaRPr lang="en-US" sz="2000" dirty="0"/>
          </a:p>
        </p:txBody>
      </p:sp>
      <p:sp>
        <p:nvSpPr>
          <p:cNvPr id="23" name="Text 21"/>
          <p:cNvSpPr/>
          <p:nvPr/>
        </p:nvSpPr>
        <p:spPr>
          <a:xfrm>
            <a:off x="6446520" y="2651760"/>
            <a:ext cx="2395728" cy="777240"/>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Replay pacts against the live API.</a:t>
            </a:r>
            <a:endParaRPr lang="en-US" sz="1400" dirty="0"/>
          </a:p>
        </p:txBody>
      </p:sp>
      <p:sp>
        <p:nvSpPr>
          <p:cNvPr id="24" name="Text 22"/>
          <p:cNvSpPr/>
          <p:nvPr/>
        </p:nvSpPr>
        <p:spPr>
          <a:xfrm>
            <a:off x="6446520" y="3566160"/>
            <a:ext cx="2395728" cy="640080"/>
          </a:xfrm>
          <a:prstGeom prst="rect">
            <a:avLst/>
          </a:prstGeom>
          <a:noFill/>
          <a:ln/>
        </p:spPr>
        <p:txBody>
          <a:bodyPr wrap="square" lIns="0" tIns="0" rIns="0" bIns="0" rtlCol="0" anchor="ctr"/>
          <a:lstStyle/>
          <a:p>
            <a:pPr marL="0" indent="0">
              <a:buNone/>
            </a:pPr>
            <a:r>
              <a:rPr lang="en-US" sz="1100" dirty="0">
                <a:solidFill>
                  <a:srgbClr val="E4C58B"/>
                </a:solidFill>
                <a:latin typeface="Consolas" pitchFamily="34" charset="0"/>
                <a:ea typeface="Consolas" pitchFamily="34" charset="-122"/>
                <a:cs typeface="Consolas" pitchFamily="34" charset="-120"/>
              </a:rPr>
              <a:t>test:contract:provider-only</a:t>
            </a:r>
            <a:endParaRPr lang="en-US" sz="1100" dirty="0"/>
          </a:p>
        </p:txBody>
      </p:sp>
      <p:sp>
        <p:nvSpPr>
          <p:cNvPr id="25" name="Text 23"/>
          <p:cNvSpPr/>
          <p:nvPr/>
        </p:nvSpPr>
        <p:spPr>
          <a:xfrm>
            <a:off x="6446520" y="4343400"/>
            <a:ext cx="2395728" cy="640080"/>
          </a:xfrm>
          <a:prstGeom prst="rect">
            <a:avLst/>
          </a:prstGeom>
          <a:noFill/>
          <a:ln/>
        </p:spPr>
        <p:txBody>
          <a:bodyPr wrap="square" lIns="0" tIns="0" rIns="0" bIns="0" rtlCol="0" anchor="ctr"/>
          <a:lstStyle/>
          <a:p>
            <a:pPr marL="0" indent="0">
              <a:buNone/>
            </a:pPr>
            <a:r>
              <a:rPr lang="en-US" sz="1300" dirty="0">
                <a:solidFill>
                  <a:srgbClr val="8AA0B5"/>
                </a:solidFill>
                <a:latin typeface="Calibri" pitchFamily="34" charset="0"/>
                <a:ea typeface="Calibri" pitchFamily="34" charset="-122"/>
                <a:cs typeface="Calibri" pitchFamily="34" charset="-120"/>
              </a:rPr>
              <a:t>Default scope is CLM and MDM.</a:t>
            </a:r>
            <a:endParaRPr lang="en-US" sz="1300" dirty="0"/>
          </a:p>
        </p:txBody>
      </p:sp>
      <p:sp>
        <p:nvSpPr>
          <p:cNvPr id="26" name="Shape 24"/>
          <p:cNvSpPr/>
          <p:nvPr/>
        </p:nvSpPr>
        <p:spPr>
          <a:xfrm>
            <a:off x="9189720" y="1554480"/>
            <a:ext cx="2761488" cy="3794760"/>
          </a:xfrm>
          <a:prstGeom prst="roundRect">
            <a:avLst>
              <a:gd name="adj" fmla="val 2649"/>
            </a:avLst>
          </a:prstGeom>
          <a:solidFill>
            <a:srgbClr val="132A3A"/>
          </a:solidFill>
          <a:ln w="12700">
            <a:solidFill>
              <a:srgbClr val="2A4A60"/>
            </a:solidFill>
            <a:prstDash val="solid"/>
          </a:ln>
        </p:spPr>
        <p:txBody>
          <a:bodyPr/>
          <a:lstStyle/>
          <a:p>
            <a:endParaRPr lang="en-US"/>
          </a:p>
        </p:txBody>
      </p:sp>
      <p:sp>
        <p:nvSpPr>
          <p:cNvPr id="27" name="Text 25"/>
          <p:cNvSpPr/>
          <p:nvPr/>
        </p:nvSpPr>
        <p:spPr>
          <a:xfrm>
            <a:off x="9372600" y="1719072"/>
            <a:ext cx="2377440" cy="365760"/>
          </a:xfrm>
          <a:prstGeom prst="rect">
            <a:avLst/>
          </a:prstGeom>
          <a:noFill/>
          <a:ln/>
        </p:spPr>
        <p:txBody>
          <a:bodyPr wrap="square" lIns="0" tIns="0" rIns="0" bIns="0" rtlCol="0" anchor="ctr"/>
          <a:lstStyle/>
          <a:p>
            <a:pPr marL="0" indent="0">
              <a:buNone/>
            </a:pPr>
            <a:r>
              <a:rPr lang="en-US" sz="1800" b="1" dirty="0">
                <a:solidFill>
                  <a:srgbClr val="3EE0C5"/>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9372600" y="2148840"/>
            <a:ext cx="2395728" cy="384048"/>
          </a:xfrm>
          <a:prstGeom prst="rect">
            <a:avLst/>
          </a:prstGeom>
          <a:noFill/>
          <a:ln/>
        </p:spPr>
        <p:txBody>
          <a:bodyPr wrap="square" lIns="0" tIns="0" rIns="0" bIns="0" rtlCol="0" anchor="ctr"/>
          <a:lstStyle/>
          <a:p>
            <a:pPr marL="0" indent="0">
              <a:buNone/>
            </a:pPr>
            <a:r>
              <a:rPr lang="en-US" sz="2000" b="1" dirty="0">
                <a:solidFill>
                  <a:srgbClr val="F7F9FC"/>
                </a:solidFill>
                <a:latin typeface="Calibri" pitchFamily="34" charset="0"/>
                <a:ea typeface="Calibri" pitchFamily="34" charset="-122"/>
                <a:cs typeface="Calibri" pitchFamily="34" charset="-120"/>
              </a:rPr>
              <a:t>Report</a:t>
            </a:r>
            <a:endParaRPr lang="en-US" sz="2000" dirty="0"/>
          </a:p>
        </p:txBody>
      </p:sp>
      <p:sp>
        <p:nvSpPr>
          <p:cNvPr id="29" name="Text 27"/>
          <p:cNvSpPr/>
          <p:nvPr/>
        </p:nvSpPr>
        <p:spPr>
          <a:xfrm>
            <a:off x="9372600" y="2651760"/>
            <a:ext cx="2395728" cy="777240"/>
          </a:xfrm>
          <a:prstGeom prst="rect">
            <a:avLst/>
          </a:prstGeom>
          <a:noFill/>
          <a:ln/>
        </p:spPr>
        <p:txBody>
          <a:bodyPr wrap="square" lIns="0" tIns="0" rIns="0" bIns="0" rtlCol="0" anchor="ctr"/>
          <a:lstStyle/>
          <a:p>
            <a:pPr marL="0" indent="0">
              <a:buNone/>
            </a:pPr>
            <a:r>
              <a:rPr lang="en-US" sz="1400" dirty="0">
                <a:solidFill>
                  <a:srgbClr val="D5DEE8"/>
                </a:solidFill>
                <a:latin typeface="Calibri" pitchFamily="34" charset="0"/>
                <a:ea typeface="Calibri" pitchFamily="34" charset="-122"/>
                <a:cs typeface="Calibri" pitchFamily="34" charset="-120"/>
              </a:rPr>
              <a:t>HTML, Excel, dashboard, artifacts.</a:t>
            </a:r>
            <a:endParaRPr lang="en-US" sz="1400" dirty="0"/>
          </a:p>
        </p:txBody>
      </p:sp>
      <p:sp>
        <p:nvSpPr>
          <p:cNvPr id="30" name="Text 28"/>
          <p:cNvSpPr/>
          <p:nvPr/>
        </p:nvSpPr>
        <p:spPr>
          <a:xfrm>
            <a:off x="9372600" y="3566160"/>
            <a:ext cx="2395728" cy="640080"/>
          </a:xfrm>
          <a:prstGeom prst="rect">
            <a:avLst/>
          </a:prstGeom>
          <a:noFill/>
          <a:ln/>
        </p:spPr>
        <p:txBody>
          <a:bodyPr wrap="square" lIns="0" tIns="0" rIns="0" bIns="0" rtlCol="0" anchor="ctr"/>
          <a:lstStyle/>
          <a:p>
            <a:pPr marL="0" indent="0">
              <a:buNone/>
            </a:pPr>
            <a:r>
              <a:rPr lang="en-US" sz="1100" dirty="0">
                <a:solidFill>
                  <a:srgbClr val="E4C58B"/>
                </a:solidFill>
                <a:latin typeface="Consolas" pitchFamily="34" charset="0"/>
                <a:ea typeface="Consolas" pitchFamily="34" charset="-122"/>
                <a:cs typeface="Consolas" pitchFamily="34" charset="-120"/>
              </a:rPr>
              <a:t>report:refresh</a:t>
            </a:r>
            <a:endParaRPr lang="en-US" sz="1100" dirty="0"/>
          </a:p>
        </p:txBody>
      </p:sp>
      <p:sp>
        <p:nvSpPr>
          <p:cNvPr id="31" name="Text 29"/>
          <p:cNvSpPr/>
          <p:nvPr/>
        </p:nvSpPr>
        <p:spPr>
          <a:xfrm>
            <a:off x="9372600" y="4343400"/>
            <a:ext cx="2395728" cy="640080"/>
          </a:xfrm>
          <a:prstGeom prst="rect">
            <a:avLst/>
          </a:prstGeom>
          <a:noFill/>
          <a:ln/>
        </p:spPr>
        <p:txBody>
          <a:bodyPr wrap="square" lIns="0" tIns="0" rIns="0" bIns="0" rtlCol="0" anchor="ctr"/>
          <a:lstStyle/>
          <a:p>
            <a:pPr marL="0" indent="0">
              <a:buNone/>
            </a:pPr>
            <a:r>
              <a:rPr lang="en-US" sz="1300" dirty="0">
                <a:solidFill>
                  <a:srgbClr val="8AA0B5"/>
                </a:solidFill>
                <a:latin typeface="Calibri" pitchFamily="34" charset="0"/>
                <a:ea typeface="Calibri" pitchFamily="34" charset="-122"/>
                <a:cs typeface="Calibri" pitchFamily="34" charset="-120"/>
              </a:rPr>
              <a:t>Email only if SMTP is set.</a:t>
            </a:r>
            <a:endParaRPr lang="en-US" sz="1300" dirty="0"/>
          </a:p>
        </p:txBody>
      </p:sp>
      <p:sp>
        <p:nvSpPr>
          <p:cNvPr id="32" name="Text 30"/>
          <p:cNvSpPr/>
          <p:nvPr/>
        </p:nvSpPr>
        <p:spPr>
          <a:xfrm>
            <a:off x="411480" y="5532120"/>
            <a:ext cx="11338560" cy="365760"/>
          </a:xfrm>
          <a:prstGeom prst="rect">
            <a:avLst/>
          </a:prstGeom>
          <a:noFill/>
          <a:ln/>
        </p:spPr>
        <p:txBody>
          <a:bodyPr wrap="square" lIns="0" tIns="0" rIns="0" bIns="0" rtlCol="0" anchor="ctr"/>
          <a:lstStyle/>
          <a:p>
            <a:pPr marL="0" indent="0">
              <a:buNone/>
            </a:pPr>
            <a:r>
              <a:rPr lang="en-US" sz="1400" dirty="0">
                <a:solidFill>
                  <a:srgbClr val="8AA0B5"/>
                </a:solidFill>
                <a:latin typeface="Calibri" pitchFamily="34" charset="0"/>
                <a:ea typeface="Calibri" pitchFamily="34" charset="-122"/>
                <a:cs typeface="Calibri" pitchFamily="34" charset="-120"/>
              </a:rPr>
              <a:t>On GitHub Actions, a failed Swagger step dispatches the gap agent. Azure publishes the gap and stops there.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05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THE FINDING</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Four statuses. One of them fails the job.</a:t>
            </a:r>
            <a:endParaRPr lang="en-US" sz="2800" dirty="0"/>
          </a:p>
        </p:txBody>
      </p:sp>
      <p:sp>
        <p:nvSpPr>
          <p:cNvPr id="7" name="Shape 5"/>
          <p:cNvSpPr/>
          <p:nvPr/>
        </p:nvSpPr>
        <p:spPr>
          <a:xfrm>
            <a:off x="411480" y="1170432"/>
            <a:ext cx="7452360" cy="868680"/>
          </a:xfrm>
          <a:prstGeom prst="roundRect">
            <a:avLst>
              <a:gd name="adj" fmla="val 8421"/>
            </a:avLst>
          </a:prstGeom>
          <a:solidFill>
            <a:srgbClr val="132A3A"/>
          </a:solidFill>
          <a:ln w="12700">
            <a:solidFill>
              <a:srgbClr val="2A4A60"/>
            </a:solidFill>
            <a:prstDash val="solid"/>
          </a:ln>
        </p:spPr>
        <p:txBody>
          <a:bodyPr/>
          <a:lstStyle/>
          <a:p>
            <a:endParaRPr lang="en-US"/>
          </a:p>
        </p:txBody>
      </p:sp>
      <p:sp>
        <p:nvSpPr>
          <p:cNvPr id="8" name="Shape 6"/>
          <p:cNvSpPr/>
          <p:nvPr/>
        </p:nvSpPr>
        <p:spPr>
          <a:xfrm>
            <a:off x="594360" y="1426464"/>
            <a:ext cx="1417320" cy="365760"/>
          </a:xfrm>
          <a:prstGeom prst="roundRect">
            <a:avLst>
              <a:gd name="adj" fmla="val 15000"/>
            </a:avLst>
          </a:prstGeom>
          <a:solidFill>
            <a:srgbClr val="0C1924"/>
          </a:solidFill>
          <a:ln w="12700">
            <a:solidFill>
              <a:srgbClr val="3DDC97"/>
            </a:solidFill>
            <a:prstDash val="solid"/>
          </a:ln>
        </p:spPr>
        <p:txBody>
          <a:bodyPr/>
          <a:lstStyle/>
          <a:p>
            <a:endParaRPr lang="en-US"/>
          </a:p>
        </p:txBody>
      </p:sp>
      <p:sp>
        <p:nvSpPr>
          <p:cNvPr id="9" name="Text 7"/>
          <p:cNvSpPr/>
          <p:nvPr/>
        </p:nvSpPr>
        <p:spPr>
          <a:xfrm>
            <a:off x="594360" y="1463040"/>
            <a:ext cx="1417320" cy="292608"/>
          </a:xfrm>
          <a:prstGeom prst="rect">
            <a:avLst/>
          </a:prstGeom>
          <a:noFill/>
          <a:ln/>
        </p:spPr>
        <p:txBody>
          <a:bodyPr wrap="square" lIns="0" tIns="0" rIns="0" bIns="0" rtlCol="0" anchor="ctr"/>
          <a:lstStyle/>
          <a:p>
            <a:pPr marL="0" indent="0" algn="ctr">
              <a:buNone/>
            </a:pPr>
            <a:r>
              <a:rPr lang="en-US" sz="1300" b="1" dirty="0">
                <a:solidFill>
                  <a:srgbClr val="3DDC97"/>
                </a:solidFill>
                <a:latin typeface="Calibri" pitchFamily="34" charset="0"/>
                <a:ea typeface="Calibri" pitchFamily="34" charset="-122"/>
                <a:cs typeface="Calibri" pitchFamily="34" charset="-120"/>
              </a:rPr>
              <a:t>Covered</a:t>
            </a:r>
            <a:endParaRPr lang="en-US" sz="1300" dirty="0"/>
          </a:p>
        </p:txBody>
      </p:sp>
      <p:sp>
        <p:nvSpPr>
          <p:cNvPr id="10" name="Text 8"/>
          <p:cNvSpPr/>
          <p:nvPr/>
        </p:nvSpPr>
        <p:spPr>
          <a:xfrm>
            <a:off x="2194560" y="1298448"/>
            <a:ext cx="5440680" cy="329184"/>
          </a:xfrm>
          <a:prstGeom prst="rect">
            <a:avLst/>
          </a:prstGeom>
          <a:noFill/>
          <a:ln/>
        </p:spPr>
        <p:txBody>
          <a:bodyPr wrap="square" lIns="0" tIns="0" rIns="0" bIns="0" rtlCol="0" anchor="ctr"/>
          <a:lstStyle/>
          <a:p>
            <a:pPr marL="0" indent="0">
              <a:buNone/>
            </a:pPr>
            <a:r>
              <a:rPr lang="en-US" sz="1400" dirty="0">
                <a:solidFill>
                  <a:srgbClr val="F7F9FC"/>
                </a:solidFill>
                <a:latin typeface="Calibri" pitchFamily="34" charset="0"/>
                <a:ea typeface="Calibri" pitchFamily="34" charset="-122"/>
                <a:cs typeface="Calibri" pitchFamily="34" charset="-120"/>
              </a:rPr>
              <a:t>A Pact interaction matches the operation.</a:t>
            </a:r>
            <a:endParaRPr lang="en-US" sz="1400" dirty="0"/>
          </a:p>
        </p:txBody>
      </p:sp>
      <p:sp>
        <p:nvSpPr>
          <p:cNvPr id="11" name="Text 9"/>
          <p:cNvSpPr/>
          <p:nvPr/>
        </p:nvSpPr>
        <p:spPr>
          <a:xfrm>
            <a:off x="2194560" y="1627632"/>
            <a:ext cx="5440680" cy="292608"/>
          </a:xfrm>
          <a:prstGeom prst="rect">
            <a:avLst/>
          </a:prstGeom>
          <a:noFill/>
          <a:ln/>
        </p:spPr>
        <p:txBody>
          <a:bodyPr wrap="square" lIns="0" tIns="0" rIns="0" bIns="0" rtlCol="0" anchor="ctr"/>
          <a:lstStyle/>
          <a:p>
            <a:pPr marL="0" indent="0">
              <a:buNone/>
            </a:pPr>
            <a:r>
              <a:rPr lang="en-US" sz="1300" dirty="0">
                <a:solidFill>
                  <a:srgbClr val="8AA0B5"/>
                </a:solidFill>
                <a:latin typeface="Calibri" pitchFamily="34" charset="0"/>
                <a:ea typeface="Calibri" pitchFamily="34" charset="-122"/>
                <a:cs typeface="Calibri" pitchFamily="34" charset="-120"/>
              </a:rPr>
              <a:t>Leave it.</a:t>
            </a:r>
            <a:endParaRPr lang="en-US" sz="1300" dirty="0"/>
          </a:p>
        </p:txBody>
      </p:sp>
      <p:sp>
        <p:nvSpPr>
          <p:cNvPr id="12" name="Shape 10"/>
          <p:cNvSpPr/>
          <p:nvPr/>
        </p:nvSpPr>
        <p:spPr>
          <a:xfrm>
            <a:off x="411480" y="2130552"/>
            <a:ext cx="7452360" cy="868680"/>
          </a:xfrm>
          <a:prstGeom prst="roundRect">
            <a:avLst>
              <a:gd name="adj" fmla="val 8421"/>
            </a:avLst>
          </a:prstGeom>
          <a:solidFill>
            <a:srgbClr val="132A3A"/>
          </a:solidFill>
          <a:ln w="12700">
            <a:solidFill>
              <a:srgbClr val="2A4A60"/>
            </a:solidFill>
            <a:prstDash val="solid"/>
          </a:ln>
        </p:spPr>
        <p:txBody>
          <a:bodyPr/>
          <a:lstStyle/>
          <a:p>
            <a:endParaRPr lang="en-US"/>
          </a:p>
        </p:txBody>
      </p:sp>
      <p:sp>
        <p:nvSpPr>
          <p:cNvPr id="13" name="Shape 11"/>
          <p:cNvSpPr/>
          <p:nvPr/>
        </p:nvSpPr>
        <p:spPr>
          <a:xfrm>
            <a:off x="594360" y="2386584"/>
            <a:ext cx="1417320" cy="365760"/>
          </a:xfrm>
          <a:prstGeom prst="roundRect">
            <a:avLst>
              <a:gd name="adj" fmla="val 15000"/>
            </a:avLst>
          </a:prstGeom>
          <a:solidFill>
            <a:srgbClr val="0C1924"/>
          </a:solidFill>
          <a:ln w="12700">
            <a:solidFill>
              <a:srgbClr val="F0B429"/>
            </a:solidFill>
            <a:prstDash val="solid"/>
          </a:ln>
        </p:spPr>
        <p:txBody>
          <a:bodyPr/>
          <a:lstStyle/>
          <a:p>
            <a:endParaRPr lang="en-US"/>
          </a:p>
        </p:txBody>
      </p:sp>
      <p:sp>
        <p:nvSpPr>
          <p:cNvPr id="14" name="Text 12"/>
          <p:cNvSpPr/>
          <p:nvPr/>
        </p:nvSpPr>
        <p:spPr>
          <a:xfrm>
            <a:off x="594360" y="2423160"/>
            <a:ext cx="1417320" cy="292608"/>
          </a:xfrm>
          <a:prstGeom prst="rect">
            <a:avLst/>
          </a:prstGeom>
          <a:noFill/>
          <a:ln/>
        </p:spPr>
        <p:txBody>
          <a:bodyPr wrap="square" lIns="0" tIns="0" rIns="0" bIns="0" rtlCol="0" anchor="ctr"/>
          <a:lstStyle/>
          <a:p>
            <a:pPr marL="0" indent="0" algn="ctr">
              <a:buNone/>
            </a:pPr>
            <a:r>
              <a:rPr lang="en-US" sz="1300" b="1" dirty="0">
                <a:solidFill>
                  <a:srgbClr val="F0B429"/>
                </a:solidFill>
                <a:latin typeface="Calibri" pitchFamily="34" charset="0"/>
                <a:ea typeface="Calibri" pitchFamily="34" charset="-122"/>
                <a:cs typeface="Calibri" pitchFamily="34" charset="-120"/>
              </a:rPr>
              <a:t>Partial</a:t>
            </a:r>
            <a:endParaRPr lang="en-US" sz="1300" dirty="0"/>
          </a:p>
        </p:txBody>
      </p:sp>
      <p:sp>
        <p:nvSpPr>
          <p:cNvPr id="15" name="Text 13"/>
          <p:cNvSpPr/>
          <p:nvPr/>
        </p:nvSpPr>
        <p:spPr>
          <a:xfrm>
            <a:off x="2194560" y="2258568"/>
            <a:ext cx="5440680" cy="329184"/>
          </a:xfrm>
          <a:prstGeom prst="rect">
            <a:avLst/>
          </a:prstGeom>
          <a:noFill/>
          <a:ln/>
        </p:spPr>
        <p:txBody>
          <a:bodyPr wrap="square" lIns="0" tIns="0" rIns="0" bIns="0" rtlCol="0" anchor="ctr"/>
          <a:lstStyle/>
          <a:p>
            <a:pPr marL="0" indent="0">
              <a:buNone/>
            </a:pPr>
            <a:r>
              <a:rPr lang="en-US" sz="1400" dirty="0">
                <a:solidFill>
                  <a:srgbClr val="F7F9FC"/>
                </a:solidFill>
                <a:latin typeface="Calibri" pitchFamily="34" charset="0"/>
                <a:ea typeface="Calibri" pitchFamily="34" charset="-122"/>
                <a:cs typeface="Calibri" pitchFamily="34" charset="-120"/>
              </a:rPr>
              <a:t>The edge exists. This response is incomplete.</a:t>
            </a:r>
            <a:endParaRPr lang="en-US" sz="1400" dirty="0"/>
          </a:p>
        </p:txBody>
      </p:sp>
      <p:sp>
        <p:nvSpPr>
          <p:cNvPr id="16" name="Text 14"/>
          <p:cNvSpPr/>
          <p:nvPr/>
        </p:nvSpPr>
        <p:spPr>
          <a:xfrm>
            <a:off x="2194560" y="2587752"/>
            <a:ext cx="5440680" cy="292608"/>
          </a:xfrm>
          <a:prstGeom prst="rect">
            <a:avLst/>
          </a:prstGeom>
          <a:noFill/>
          <a:ln/>
        </p:spPr>
        <p:txBody>
          <a:bodyPr wrap="square" lIns="0" tIns="0" rIns="0" bIns="0" rtlCol="0" anchor="ctr"/>
          <a:lstStyle/>
          <a:p>
            <a:pPr marL="0" indent="0">
              <a:buNone/>
            </a:pPr>
            <a:r>
              <a:rPr lang="en-US" sz="1300" dirty="0">
                <a:solidFill>
                  <a:srgbClr val="8AA0B5"/>
                </a:solidFill>
                <a:latin typeface="Calibri" pitchFamily="34" charset="0"/>
                <a:ea typeface="Calibri" pitchFamily="34" charset="-122"/>
                <a:cs typeface="Calibri" pitchFamily="34" charset="-120"/>
              </a:rPr>
              <a:t>Extend the interaction.</a:t>
            </a:r>
            <a:endParaRPr lang="en-US" sz="1300" dirty="0"/>
          </a:p>
        </p:txBody>
      </p:sp>
      <p:sp>
        <p:nvSpPr>
          <p:cNvPr id="17" name="Shape 15"/>
          <p:cNvSpPr/>
          <p:nvPr/>
        </p:nvSpPr>
        <p:spPr>
          <a:xfrm>
            <a:off x="411480" y="3090672"/>
            <a:ext cx="7452360" cy="868680"/>
          </a:xfrm>
          <a:prstGeom prst="roundRect">
            <a:avLst>
              <a:gd name="adj" fmla="val 8421"/>
            </a:avLst>
          </a:prstGeom>
          <a:solidFill>
            <a:srgbClr val="132A3A"/>
          </a:solidFill>
          <a:ln w="12700">
            <a:solidFill>
              <a:srgbClr val="2A4A60"/>
            </a:solidFill>
            <a:prstDash val="solid"/>
          </a:ln>
        </p:spPr>
        <p:txBody>
          <a:bodyPr/>
          <a:lstStyle/>
          <a:p>
            <a:endParaRPr lang="en-US"/>
          </a:p>
        </p:txBody>
      </p:sp>
      <p:sp>
        <p:nvSpPr>
          <p:cNvPr id="18" name="Shape 16"/>
          <p:cNvSpPr/>
          <p:nvPr/>
        </p:nvSpPr>
        <p:spPr>
          <a:xfrm>
            <a:off x="594360" y="3346704"/>
            <a:ext cx="1417320" cy="365760"/>
          </a:xfrm>
          <a:prstGeom prst="roundRect">
            <a:avLst>
              <a:gd name="adj" fmla="val 15000"/>
            </a:avLst>
          </a:prstGeom>
          <a:solidFill>
            <a:srgbClr val="0C1924"/>
          </a:solidFill>
          <a:ln w="12700">
            <a:solidFill>
              <a:srgbClr val="FF6B6B"/>
            </a:solidFill>
            <a:prstDash val="solid"/>
          </a:ln>
        </p:spPr>
        <p:txBody>
          <a:bodyPr/>
          <a:lstStyle/>
          <a:p>
            <a:endParaRPr lang="en-US"/>
          </a:p>
        </p:txBody>
      </p:sp>
      <p:sp>
        <p:nvSpPr>
          <p:cNvPr id="19" name="Text 17"/>
          <p:cNvSpPr/>
          <p:nvPr/>
        </p:nvSpPr>
        <p:spPr>
          <a:xfrm>
            <a:off x="594360" y="3383280"/>
            <a:ext cx="1417320" cy="292608"/>
          </a:xfrm>
          <a:prstGeom prst="rect">
            <a:avLst/>
          </a:prstGeom>
          <a:noFill/>
          <a:ln/>
        </p:spPr>
        <p:txBody>
          <a:bodyPr wrap="square" lIns="0" tIns="0" rIns="0" bIns="0" rtlCol="0" anchor="ctr"/>
          <a:lstStyle/>
          <a:p>
            <a:pPr marL="0" indent="0" algn="ctr">
              <a:buNone/>
            </a:pPr>
            <a:r>
              <a:rPr lang="en-US" sz="1300" b="1" dirty="0">
                <a:solidFill>
                  <a:srgbClr val="FF6B6B"/>
                </a:solidFill>
                <a:latin typeface="Calibri" pitchFamily="34" charset="0"/>
                <a:ea typeface="Calibri" pitchFamily="34" charset="-122"/>
                <a:cs typeface="Calibri" pitchFamily="34" charset="-120"/>
              </a:rPr>
              <a:t>Missing</a:t>
            </a:r>
            <a:endParaRPr lang="en-US" sz="1300" dirty="0"/>
          </a:p>
        </p:txBody>
      </p:sp>
      <p:sp>
        <p:nvSpPr>
          <p:cNvPr id="20" name="Text 18"/>
          <p:cNvSpPr/>
          <p:nvPr/>
        </p:nvSpPr>
        <p:spPr>
          <a:xfrm>
            <a:off x="2194560" y="3218688"/>
            <a:ext cx="5440680" cy="329184"/>
          </a:xfrm>
          <a:prstGeom prst="rect">
            <a:avLst/>
          </a:prstGeom>
          <a:noFill/>
          <a:ln/>
        </p:spPr>
        <p:txBody>
          <a:bodyPr wrap="square" lIns="0" tIns="0" rIns="0" bIns="0" rtlCol="0" anchor="ctr"/>
          <a:lstStyle/>
          <a:p>
            <a:pPr marL="0" indent="0">
              <a:buNone/>
            </a:pPr>
            <a:r>
              <a:rPr lang="en-US" sz="1400" dirty="0">
                <a:solidFill>
                  <a:srgbClr val="F7F9FC"/>
                </a:solidFill>
                <a:latin typeface="Calibri" pitchFamily="34" charset="0"/>
                <a:ea typeface="Calibri" pitchFamily="34" charset="-122"/>
                <a:cs typeface="Calibri" pitchFamily="34" charset="-120"/>
              </a:rPr>
              <a:t>It is in the v2 Swagger. It is not in Pact.</a:t>
            </a:r>
            <a:endParaRPr lang="en-US" sz="1400" dirty="0"/>
          </a:p>
        </p:txBody>
      </p:sp>
      <p:sp>
        <p:nvSpPr>
          <p:cNvPr id="21" name="Text 19"/>
          <p:cNvSpPr/>
          <p:nvPr/>
        </p:nvSpPr>
        <p:spPr>
          <a:xfrm>
            <a:off x="2194560" y="3547872"/>
            <a:ext cx="5440680" cy="292608"/>
          </a:xfrm>
          <a:prstGeom prst="rect">
            <a:avLst/>
          </a:prstGeom>
          <a:noFill/>
          <a:ln/>
        </p:spPr>
        <p:txBody>
          <a:bodyPr wrap="square" lIns="0" tIns="0" rIns="0" bIns="0" rtlCol="0" anchor="ctr"/>
          <a:lstStyle/>
          <a:p>
            <a:pPr marL="0" indent="0">
              <a:buNone/>
            </a:pPr>
            <a:r>
              <a:rPr lang="en-US" sz="1300" dirty="0">
                <a:solidFill>
                  <a:srgbClr val="8AA0B5"/>
                </a:solidFill>
                <a:latin typeface="Calibri" pitchFamily="34" charset="0"/>
                <a:ea typeface="Calibri" pitchFamily="34" charset="-122"/>
                <a:cs typeface="Calibri" pitchFamily="34" charset="-120"/>
              </a:rPr>
              <a:t>The agent implements it.</a:t>
            </a:r>
            <a:endParaRPr lang="en-US" sz="1300" dirty="0"/>
          </a:p>
        </p:txBody>
      </p:sp>
      <p:sp>
        <p:nvSpPr>
          <p:cNvPr id="22" name="Shape 20"/>
          <p:cNvSpPr/>
          <p:nvPr/>
        </p:nvSpPr>
        <p:spPr>
          <a:xfrm>
            <a:off x="411480" y="4050792"/>
            <a:ext cx="7452360" cy="868680"/>
          </a:xfrm>
          <a:prstGeom prst="roundRect">
            <a:avLst>
              <a:gd name="adj" fmla="val 8421"/>
            </a:avLst>
          </a:prstGeom>
          <a:solidFill>
            <a:srgbClr val="132A3A"/>
          </a:solidFill>
          <a:ln w="12700">
            <a:solidFill>
              <a:srgbClr val="2A4A60"/>
            </a:solidFill>
            <a:prstDash val="solid"/>
          </a:ln>
        </p:spPr>
        <p:txBody>
          <a:bodyPr/>
          <a:lstStyle/>
          <a:p>
            <a:endParaRPr lang="en-US"/>
          </a:p>
        </p:txBody>
      </p:sp>
      <p:sp>
        <p:nvSpPr>
          <p:cNvPr id="23" name="Shape 21"/>
          <p:cNvSpPr/>
          <p:nvPr/>
        </p:nvSpPr>
        <p:spPr>
          <a:xfrm>
            <a:off x="594360" y="4306824"/>
            <a:ext cx="1417320" cy="365760"/>
          </a:xfrm>
          <a:prstGeom prst="roundRect">
            <a:avLst>
              <a:gd name="adj" fmla="val 15000"/>
            </a:avLst>
          </a:prstGeom>
          <a:solidFill>
            <a:srgbClr val="0C1924"/>
          </a:solidFill>
          <a:ln w="12700">
            <a:solidFill>
              <a:srgbClr val="E4C58B"/>
            </a:solidFill>
            <a:prstDash val="solid"/>
          </a:ln>
        </p:spPr>
        <p:txBody>
          <a:bodyPr/>
          <a:lstStyle/>
          <a:p>
            <a:endParaRPr lang="en-US"/>
          </a:p>
        </p:txBody>
      </p:sp>
      <p:sp>
        <p:nvSpPr>
          <p:cNvPr id="24" name="Text 22"/>
          <p:cNvSpPr/>
          <p:nvPr/>
        </p:nvSpPr>
        <p:spPr>
          <a:xfrm>
            <a:off x="594360" y="4343400"/>
            <a:ext cx="1417320" cy="292608"/>
          </a:xfrm>
          <a:prstGeom prst="rect">
            <a:avLst/>
          </a:prstGeom>
          <a:noFill/>
          <a:ln/>
        </p:spPr>
        <p:txBody>
          <a:bodyPr wrap="square" lIns="0" tIns="0" rIns="0" bIns="0" rtlCol="0" anchor="ctr"/>
          <a:lstStyle/>
          <a:p>
            <a:pPr marL="0" indent="0" algn="ctr">
              <a:buNone/>
            </a:pPr>
            <a:r>
              <a:rPr lang="en-US" sz="1300" b="1" dirty="0">
                <a:solidFill>
                  <a:srgbClr val="E4C58B"/>
                </a:solidFill>
                <a:latin typeface="Calibri" pitchFamily="34" charset="0"/>
                <a:ea typeface="Calibri" pitchFamily="34" charset="-122"/>
                <a:cs typeface="Calibri" pitchFamily="34" charset="-120"/>
              </a:rPr>
              <a:t>Deferred</a:t>
            </a:r>
            <a:endParaRPr lang="en-US" sz="1300" dirty="0"/>
          </a:p>
        </p:txBody>
      </p:sp>
      <p:sp>
        <p:nvSpPr>
          <p:cNvPr id="25" name="Text 23"/>
          <p:cNvSpPr/>
          <p:nvPr/>
        </p:nvSpPr>
        <p:spPr>
          <a:xfrm>
            <a:off x="2194560" y="4178808"/>
            <a:ext cx="5440680" cy="329184"/>
          </a:xfrm>
          <a:prstGeom prst="rect">
            <a:avLst/>
          </a:prstGeom>
          <a:noFill/>
          <a:ln/>
        </p:spPr>
        <p:txBody>
          <a:bodyPr wrap="square" lIns="0" tIns="0" rIns="0" bIns="0" rtlCol="0" anchor="ctr"/>
          <a:lstStyle/>
          <a:p>
            <a:pPr marL="0" indent="0">
              <a:buNone/>
            </a:pPr>
            <a:r>
              <a:rPr lang="en-US" sz="1400" dirty="0">
                <a:solidFill>
                  <a:srgbClr val="F7F9FC"/>
                </a:solidFill>
                <a:latin typeface="Calibri" pitchFamily="34" charset="0"/>
                <a:ea typeface="Calibri" pitchFamily="34" charset="-122"/>
                <a:cs typeface="Calibri" pitchFamily="34" charset="-120"/>
              </a:rPr>
              <a:t>Known out of gate. Upload 200 needs a real workbook.</a:t>
            </a:r>
            <a:endParaRPr lang="en-US" sz="1400" dirty="0"/>
          </a:p>
        </p:txBody>
      </p:sp>
      <p:sp>
        <p:nvSpPr>
          <p:cNvPr id="26" name="Text 24"/>
          <p:cNvSpPr/>
          <p:nvPr/>
        </p:nvSpPr>
        <p:spPr>
          <a:xfrm>
            <a:off x="2194560" y="4507992"/>
            <a:ext cx="5440680" cy="292608"/>
          </a:xfrm>
          <a:prstGeom prst="rect">
            <a:avLst/>
          </a:prstGeom>
          <a:noFill/>
          <a:ln/>
        </p:spPr>
        <p:txBody>
          <a:bodyPr wrap="square" lIns="0" tIns="0" rIns="0" bIns="0" rtlCol="0" anchor="ctr"/>
          <a:lstStyle/>
          <a:p>
            <a:pPr marL="0" indent="0">
              <a:buNone/>
            </a:pPr>
            <a:r>
              <a:rPr lang="en-US" sz="1300" dirty="0">
                <a:solidFill>
                  <a:srgbClr val="8AA0B5"/>
                </a:solidFill>
                <a:latin typeface="Calibri" pitchFamily="34" charset="0"/>
                <a:ea typeface="Calibri" pitchFamily="34" charset="-122"/>
                <a:cs typeface="Calibri" pitchFamily="34" charset="-120"/>
              </a:rPr>
              <a:t>Document only.</a:t>
            </a:r>
            <a:endParaRPr lang="en-US" sz="1300" dirty="0"/>
          </a:p>
        </p:txBody>
      </p:sp>
      <p:sp>
        <p:nvSpPr>
          <p:cNvPr id="27" name="Shape 25"/>
          <p:cNvSpPr/>
          <p:nvPr/>
        </p:nvSpPr>
        <p:spPr>
          <a:xfrm>
            <a:off x="8046720" y="1170432"/>
            <a:ext cx="3703320" cy="4892040"/>
          </a:xfrm>
          <a:prstGeom prst="roundRect">
            <a:avLst>
              <a:gd name="adj" fmla="val 1975"/>
            </a:avLst>
          </a:prstGeom>
          <a:solidFill>
            <a:srgbClr val="071018"/>
          </a:solidFill>
          <a:ln w="12700">
            <a:solidFill>
              <a:srgbClr val="2A4A60"/>
            </a:solidFill>
            <a:prstDash val="solid"/>
          </a:ln>
        </p:spPr>
        <p:txBody>
          <a:bodyPr/>
          <a:lstStyle/>
          <a:p>
            <a:endParaRPr lang="en-US"/>
          </a:p>
        </p:txBody>
      </p:sp>
      <p:sp>
        <p:nvSpPr>
          <p:cNvPr id="28" name="Text 26"/>
          <p:cNvSpPr/>
          <p:nvPr/>
        </p:nvSpPr>
        <p:spPr>
          <a:xfrm>
            <a:off x="8247888" y="1335024"/>
            <a:ext cx="329184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GATE LOG</a:t>
            </a:r>
            <a:endParaRPr lang="en-US" sz="1200" dirty="0"/>
          </a:p>
        </p:txBody>
      </p:sp>
      <p:sp>
        <p:nvSpPr>
          <p:cNvPr id="29" name="Text 27"/>
          <p:cNvSpPr/>
          <p:nvPr/>
        </p:nvSpPr>
        <p:spPr>
          <a:xfrm>
            <a:off x="8247888" y="1719072"/>
            <a:ext cx="3337560" cy="1737360"/>
          </a:xfrm>
          <a:prstGeom prst="rect">
            <a:avLst/>
          </a:prstGeom>
          <a:noFill/>
          <a:ln/>
        </p:spPr>
        <p:txBody>
          <a:bodyPr wrap="square" lIns="0" tIns="0" rIns="0" bIns="0" rtlCol="0" anchor="ctr"/>
          <a:lstStyle/>
          <a:p>
            <a:pPr marL="0" indent="0">
              <a:buNone/>
            </a:pPr>
            <a:r>
              <a:rPr lang="en-US" sz="1300" dirty="0">
                <a:solidFill>
                  <a:srgbClr val="D5DEE8"/>
                </a:solidFill>
                <a:latin typeface="Consolas" pitchFamily="34" charset="0"/>
                <a:ea typeface="Consolas" pitchFamily="34" charset="-122"/>
                <a:cs typeface="Consolas" pitchFamily="34" charset="-120"/>
              </a:rPr>
              <a:t>Ops        from v2</a:t>
            </a:r>
            <a:endParaRPr lang="en-US" sz="1300" dirty="0"/>
          </a:p>
          <a:p>
            <a:pPr marL="0" indent="0">
              <a:buNone/>
            </a:pPr>
            <a:r>
              <a:rPr lang="en-US" sz="1300" dirty="0">
                <a:solidFill>
                  <a:srgbClr val="D5DEE8"/>
                </a:solidFill>
                <a:latin typeface="Consolas" pitchFamily="34" charset="0"/>
                <a:ea typeface="Consolas" pitchFamily="34" charset="-122"/>
                <a:cs typeface="Consolas" pitchFamily="34" charset="-120"/>
              </a:rPr>
              <a:t>Covered    still matched</a:t>
            </a:r>
            <a:endParaRPr lang="en-US" sz="1300" dirty="0"/>
          </a:p>
          <a:p>
            <a:pPr marL="0" indent="0">
              <a:buNone/>
            </a:pPr>
            <a:r>
              <a:rPr lang="en-US" sz="1300" dirty="0">
                <a:solidFill>
                  <a:srgbClr val="D5DEE8"/>
                </a:solidFill>
                <a:latin typeface="Consolas" pitchFamily="34" charset="0"/>
                <a:ea typeface="Consolas" pitchFamily="34" charset="-122"/>
                <a:cs typeface="Consolas" pitchFamily="34" charset="-120"/>
              </a:rPr>
              <a:t>Partial    incomplete</a:t>
            </a:r>
            <a:endParaRPr lang="en-US" sz="1300" dirty="0"/>
          </a:p>
          <a:p>
            <a:pPr marL="0" indent="0">
              <a:buNone/>
            </a:pPr>
            <a:r>
              <a:rPr lang="en-US" sz="1300" dirty="0">
                <a:solidFill>
                  <a:srgbClr val="FF6B6B"/>
                </a:solidFill>
                <a:latin typeface="Consolas" pitchFamily="34" charset="0"/>
                <a:ea typeface="Consolas" pitchFamily="34" charset="-122"/>
                <a:cs typeface="Consolas" pitchFamily="34" charset="-120"/>
              </a:rPr>
              <a:t>Missing    &gt; 0</a:t>
            </a:r>
            <a:endParaRPr lang="en-US" sz="1300" dirty="0"/>
          </a:p>
          <a:p>
            <a:pPr marL="0" indent="0">
              <a:buNone/>
            </a:pPr>
            <a:r>
              <a:rPr lang="en-US" sz="1300" dirty="0">
                <a:solidFill>
                  <a:srgbClr val="E4C58B"/>
                </a:solidFill>
                <a:latin typeface="Consolas" pitchFamily="34" charset="0"/>
                <a:ea typeface="Consolas" pitchFamily="34" charset="-122"/>
                <a:cs typeface="Consolas" pitchFamily="34" charset="-120"/>
              </a:rPr>
              <a:t>Deferred   listed</a:t>
            </a:r>
            <a:endParaRPr lang="en-US" sz="1300" dirty="0"/>
          </a:p>
        </p:txBody>
      </p:sp>
      <p:sp>
        <p:nvSpPr>
          <p:cNvPr id="30" name="Shape 28"/>
          <p:cNvSpPr/>
          <p:nvPr/>
        </p:nvSpPr>
        <p:spPr>
          <a:xfrm>
            <a:off x="8247888" y="3566160"/>
            <a:ext cx="3291840" cy="13716"/>
          </a:xfrm>
          <a:prstGeom prst="rect">
            <a:avLst/>
          </a:prstGeom>
          <a:solidFill>
            <a:srgbClr val="2A4A60"/>
          </a:solidFill>
          <a:ln w="12700">
            <a:solidFill>
              <a:srgbClr val="2A4A60"/>
            </a:solidFill>
            <a:prstDash val="solid"/>
          </a:ln>
        </p:spPr>
        <p:txBody>
          <a:bodyPr/>
          <a:lstStyle/>
          <a:p>
            <a:endParaRPr lang="en-US"/>
          </a:p>
        </p:txBody>
      </p:sp>
      <p:sp>
        <p:nvSpPr>
          <p:cNvPr id="31" name="Text 29"/>
          <p:cNvSpPr/>
          <p:nvPr/>
        </p:nvSpPr>
        <p:spPr>
          <a:xfrm>
            <a:off x="8247888" y="3749040"/>
            <a:ext cx="3291840" cy="1554480"/>
          </a:xfrm>
          <a:prstGeom prst="rect">
            <a:avLst/>
          </a:prstGeom>
          <a:noFill/>
          <a:ln/>
        </p:spPr>
        <p:txBody>
          <a:bodyPr wrap="square" lIns="0" tIns="0" rIns="0" bIns="0" rtlCol="0" anchor="ctr"/>
          <a:lstStyle/>
          <a:p>
            <a:pPr marL="0" indent="0">
              <a:buNone/>
            </a:pPr>
            <a:r>
              <a:rPr lang="en-US" sz="1300" dirty="0">
                <a:solidFill>
                  <a:srgbClr val="FF6B6B"/>
                </a:solidFill>
                <a:latin typeface="Consolas" pitchFamily="34" charset="0"/>
                <a:ea typeface="Consolas" pitchFamily="34" charset="-122"/>
                <a:cs typeface="Consolas" pitchFamily="34" charset="-120"/>
              </a:rPr>
              <a:t>Swagger coverage gap:</a:t>
            </a:r>
            <a:endParaRPr lang="en-US" sz="1300" dirty="0"/>
          </a:p>
          <a:p>
            <a:pPr marL="0" indent="0">
              <a:buNone/>
            </a:pPr>
            <a:r>
              <a:rPr lang="en-US" sz="1300" dirty="0">
                <a:solidFill>
                  <a:srgbClr val="FF6B6B"/>
                </a:solidFill>
                <a:latin typeface="Consolas" pitchFamily="34" charset="0"/>
                <a:ea typeface="Consolas" pitchFamily="34" charset="-122"/>
                <a:cs typeface="Consolas" pitchFamily="34" charset="-120"/>
              </a:rPr>
              <a:t>N uncovered operations.</a:t>
            </a:r>
            <a:endParaRPr lang="en-US" sz="1300" dirty="0"/>
          </a:p>
          <a:p>
            <a:pPr marL="0" indent="0">
              <a:buNone/>
            </a:pPr>
            <a:endParaRPr lang="en-US" sz="1300" dirty="0"/>
          </a:p>
          <a:p>
            <a:pPr marL="0" indent="0">
              <a:buNone/>
            </a:pPr>
            <a:r>
              <a:rPr lang="en-US" sz="1300" dirty="0">
                <a:solidFill>
                  <a:srgbClr val="FF6B6B"/>
                </a:solidFill>
                <a:latin typeface="Consolas" pitchFamily="34" charset="0"/>
                <a:ea typeface="Consolas" pitchFamily="34" charset="-122"/>
                <a:cs typeface="Consolas" pitchFamily="34" charset="-120"/>
              </a:rPr>
              <a:t>Hand off to</a:t>
            </a:r>
            <a:endParaRPr lang="en-US" sz="1300" dirty="0"/>
          </a:p>
          <a:p>
            <a:pPr marL="0" indent="0">
              <a:buNone/>
            </a:pPr>
            <a:r>
              <a:rPr lang="en-US" sz="1300" dirty="0">
                <a:solidFill>
                  <a:srgbClr val="FF6B6B"/>
                </a:solidFill>
                <a:latin typeface="Consolas" pitchFamily="34" charset="0"/>
                <a:ea typeface="Consolas" pitchFamily="34" charset="-122"/>
                <a:cs typeface="Consolas" pitchFamily="34" charset="-120"/>
              </a:rPr>
              <a:t>TestCaseGenratorViaSwagger.</a:t>
            </a:r>
            <a:endParaRPr lang="en-US" sz="1300" dirty="0"/>
          </a:p>
        </p:txBody>
      </p:sp>
      <p:sp>
        <p:nvSpPr>
          <p:cNvPr id="32" name="Text 30"/>
          <p:cNvSpPr/>
          <p:nvPr/>
        </p:nvSpPr>
        <p:spPr>
          <a:xfrm>
            <a:off x="8247888" y="5532120"/>
            <a:ext cx="3291840" cy="365760"/>
          </a:xfrm>
          <a:prstGeom prst="rect">
            <a:avLst/>
          </a:prstGeom>
          <a:noFill/>
          <a:ln/>
        </p:spPr>
        <p:txBody>
          <a:bodyPr wrap="square" lIns="0" tIns="0" rIns="0" bIns="0" rtlCol="0" anchor="ctr"/>
          <a:lstStyle/>
          <a:p>
            <a:pPr marL="0" indent="0">
              <a:buNone/>
            </a:pPr>
            <a:r>
              <a:rPr lang="en-US" sz="1200" dirty="0">
                <a:solidFill>
                  <a:srgbClr val="8AA0B5"/>
                </a:solidFill>
                <a:latin typeface="Calibri" pitchFamily="34" charset="0"/>
                <a:ea typeface="Calibri" pitchFamily="34" charset="-122"/>
                <a:cs typeface="Calibri" pitchFamily="34" charset="-120"/>
              </a:rPr>
              <a:t>Deferred lines do not fail the gate.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06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LIVE DEMO</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Six steps on the local machine</a:t>
            </a:r>
            <a:endParaRPr lang="en-US" sz="2800" dirty="0"/>
          </a:p>
        </p:txBody>
      </p:sp>
      <p:sp>
        <p:nvSpPr>
          <p:cNvPr id="7" name="Shape 5"/>
          <p:cNvSpPr/>
          <p:nvPr/>
        </p:nvSpPr>
        <p:spPr>
          <a:xfrm>
            <a:off x="411480" y="1170432"/>
            <a:ext cx="5687568" cy="1572768"/>
          </a:xfrm>
          <a:prstGeom prst="roundRect">
            <a:avLst>
              <a:gd name="adj" fmla="val 4651"/>
            </a:avLst>
          </a:prstGeom>
          <a:solidFill>
            <a:srgbClr val="132A3A"/>
          </a:solidFill>
          <a:ln w="12700">
            <a:solidFill>
              <a:srgbClr val="2A4A60"/>
            </a:solidFill>
            <a:prstDash val="solid"/>
          </a:ln>
        </p:spPr>
        <p:txBody>
          <a:bodyPr/>
          <a:lstStyle/>
          <a:p>
            <a:endParaRPr lang="en-US"/>
          </a:p>
        </p:txBody>
      </p:sp>
      <p:sp>
        <p:nvSpPr>
          <p:cNvPr id="8" name="Text 6"/>
          <p:cNvSpPr/>
          <p:nvPr/>
        </p:nvSpPr>
        <p:spPr>
          <a:xfrm>
            <a:off x="576072" y="1316736"/>
            <a:ext cx="365760" cy="329184"/>
          </a:xfrm>
          <a:prstGeom prst="rect">
            <a:avLst/>
          </a:prstGeom>
          <a:noFill/>
          <a:ln/>
        </p:spPr>
        <p:txBody>
          <a:bodyPr wrap="square" lIns="0" tIns="0" rIns="0" bIns="0" rtlCol="0" anchor="ctr"/>
          <a:lstStyle/>
          <a:p>
            <a:pPr marL="0" indent="0">
              <a:buNone/>
            </a:pPr>
            <a:r>
              <a:rPr lang="en-US" sz="2000" b="1" dirty="0">
                <a:solidFill>
                  <a:srgbClr val="3EE0C5"/>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978408" y="1335024"/>
            <a:ext cx="4892040" cy="310896"/>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Baseline on the current API</a:t>
            </a:r>
            <a:endParaRPr lang="en-US" sz="1600" dirty="0"/>
          </a:p>
        </p:txBody>
      </p:sp>
      <p:sp>
        <p:nvSpPr>
          <p:cNvPr id="10" name="Text 8"/>
          <p:cNvSpPr/>
          <p:nvPr/>
        </p:nvSpPr>
        <p:spPr>
          <a:xfrm>
            <a:off x="978408" y="1719072"/>
            <a:ext cx="4892040" cy="384048"/>
          </a:xfrm>
          <a:prstGeom prst="rect">
            <a:avLst/>
          </a:prstGeom>
          <a:noFill/>
          <a:ln/>
        </p:spPr>
        <p:txBody>
          <a:bodyPr wrap="square" lIns="0" tIns="0" rIns="0" bIns="0" rtlCol="0" anchor="ctr"/>
          <a:lstStyle/>
          <a:p>
            <a:pPr marL="0" indent="0">
              <a:buNone/>
            </a:pPr>
            <a:r>
              <a:rPr lang="en-US" sz="1300" dirty="0">
                <a:solidFill>
                  <a:srgbClr val="E4C58B"/>
                </a:solidFill>
                <a:latin typeface="Consolas" pitchFamily="34" charset="0"/>
                <a:ea typeface="Consolas" pitchFamily="34" charset="-122"/>
                <a:cs typeface="Consolas" pitchFamily="34" charset="-120"/>
              </a:rPr>
              <a:t>npm run test:swagger-coverage</a:t>
            </a:r>
            <a:endParaRPr lang="en-US" sz="1300" dirty="0"/>
          </a:p>
        </p:txBody>
      </p:sp>
      <p:sp>
        <p:nvSpPr>
          <p:cNvPr id="11" name="Text 9"/>
          <p:cNvSpPr/>
          <p:nvPr/>
        </p:nvSpPr>
        <p:spPr>
          <a:xfrm>
            <a:off x="978408" y="2194560"/>
            <a:ext cx="4892040" cy="329184"/>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Expect covered, and missing at zero.</a:t>
            </a:r>
            <a:endParaRPr lang="en-US" sz="1300" dirty="0"/>
          </a:p>
        </p:txBody>
      </p:sp>
      <p:sp>
        <p:nvSpPr>
          <p:cNvPr id="12" name="Shape 10"/>
          <p:cNvSpPr/>
          <p:nvPr/>
        </p:nvSpPr>
        <p:spPr>
          <a:xfrm>
            <a:off x="6281928" y="1170432"/>
            <a:ext cx="5687568" cy="1572768"/>
          </a:xfrm>
          <a:prstGeom prst="roundRect">
            <a:avLst>
              <a:gd name="adj" fmla="val 4651"/>
            </a:avLst>
          </a:prstGeom>
          <a:solidFill>
            <a:srgbClr val="132A3A"/>
          </a:solidFill>
          <a:ln w="12700">
            <a:solidFill>
              <a:srgbClr val="2A4A60"/>
            </a:solidFill>
            <a:prstDash val="solid"/>
          </a:ln>
        </p:spPr>
        <p:txBody>
          <a:bodyPr/>
          <a:lstStyle/>
          <a:p>
            <a:endParaRPr lang="en-US"/>
          </a:p>
        </p:txBody>
      </p:sp>
      <p:sp>
        <p:nvSpPr>
          <p:cNvPr id="13" name="Text 11"/>
          <p:cNvSpPr/>
          <p:nvPr/>
        </p:nvSpPr>
        <p:spPr>
          <a:xfrm>
            <a:off x="6446520" y="1316736"/>
            <a:ext cx="365760" cy="329184"/>
          </a:xfrm>
          <a:prstGeom prst="rect">
            <a:avLst/>
          </a:prstGeom>
          <a:noFill/>
          <a:ln/>
        </p:spPr>
        <p:txBody>
          <a:bodyPr wrap="square" lIns="0" tIns="0" rIns="0" bIns="0" rtlCol="0" anchor="ctr"/>
          <a:lstStyle/>
          <a:p>
            <a:pPr marL="0" indent="0">
              <a:buNone/>
            </a:pPr>
            <a:r>
              <a:rPr lang="en-US" sz="2000" b="1" dirty="0">
                <a:solidFill>
                  <a:srgbClr val="3EE0C5"/>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6848856" y="1335024"/>
            <a:ext cx="4892040" cy="310896"/>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Aim the suite at v2</a:t>
            </a:r>
            <a:endParaRPr lang="en-US" sz="1600" dirty="0"/>
          </a:p>
        </p:txBody>
      </p:sp>
      <p:sp>
        <p:nvSpPr>
          <p:cNvPr id="15" name="Text 13"/>
          <p:cNvSpPr/>
          <p:nvPr/>
        </p:nvSpPr>
        <p:spPr>
          <a:xfrm>
            <a:off x="6848856" y="1719072"/>
            <a:ext cx="4892040" cy="384048"/>
          </a:xfrm>
          <a:prstGeom prst="rect">
            <a:avLst/>
          </a:prstGeom>
          <a:noFill/>
          <a:ln/>
        </p:spPr>
        <p:txBody>
          <a:bodyPr wrap="square" lIns="0" tIns="0" rIns="0" bIns="0" rtlCol="0" anchor="ctr"/>
          <a:lstStyle/>
          <a:p>
            <a:pPr marL="0" indent="0">
              <a:buNone/>
            </a:pPr>
            <a:r>
              <a:rPr lang="en-US" sz="1300" dirty="0">
                <a:solidFill>
                  <a:srgbClr val="E4C58B"/>
                </a:solidFill>
                <a:latin typeface="Consolas" pitchFamily="34" charset="0"/>
                <a:ea typeface="Consolas" pitchFamily="34" charset="-122"/>
                <a:cs typeface="Consolas" pitchFamily="34" charset="-120"/>
              </a:rPr>
              <a:t>npm run sync:gateway</a:t>
            </a:r>
            <a:endParaRPr lang="en-US" sz="1300" dirty="0"/>
          </a:p>
        </p:txBody>
      </p:sp>
      <p:sp>
        <p:nvSpPr>
          <p:cNvPr id="16" name="Text 14"/>
          <p:cNvSpPr/>
          <p:nvPr/>
        </p:nvSpPr>
        <p:spPr>
          <a:xfrm>
            <a:off x="6848856" y="2194560"/>
            <a:ext cx="4892040" cy="329184"/>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Set gatewayBaseUrl to the v2 host first.</a:t>
            </a:r>
            <a:endParaRPr lang="en-US" sz="1300" dirty="0"/>
          </a:p>
        </p:txBody>
      </p:sp>
      <p:sp>
        <p:nvSpPr>
          <p:cNvPr id="17" name="Shape 15"/>
          <p:cNvSpPr/>
          <p:nvPr/>
        </p:nvSpPr>
        <p:spPr>
          <a:xfrm>
            <a:off x="411480" y="2862072"/>
            <a:ext cx="5687568" cy="1572768"/>
          </a:xfrm>
          <a:prstGeom prst="roundRect">
            <a:avLst>
              <a:gd name="adj" fmla="val 4651"/>
            </a:avLst>
          </a:prstGeom>
          <a:solidFill>
            <a:srgbClr val="132A3A"/>
          </a:solidFill>
          <a:ln w="12700">
            <a:solidFill>
              <a:srgbClr val="2A4A60"/>
            </a:solidFill>
            <a:prstDash val="solid"/>
          </a:ln>
        </p:spPr>
        <p:txBody>
          <a:bodyPr/>
          <a:lstStyle/>
          <a:p>
            <a:endParaRPr lang="en-US"/>
          </a:p>
        </p:txBody>
      </p:sp>
      <p:sp>
        <p:nvSpPr>
          <p:cNvPr id="18" name="Text 16"/>
          <p:cNvSpPr/>
          <p:nvPr/>
        </p:nvSpPr>
        <p:spPr>
          <a:xfrm>
            <a:off x="576072" y="3008376"/>
            <a:ext cx="365760" cy="329184"/>
          </a:xfrm>
          <a:prstGeom prst="rect">
            <a:avLst/>
          </a:prstGeom>
          <a:noFill/>
          <a:ln/>
        </p:spPr>
        <p:txBody>
          <a:bodyPr wrap="square" lIns="0" tIns="0" rIns="0" bIns="0" rtlCol="0" anchor="ctr"/>
          <a:lstStyle/>
          <a:p>
            <a:pPr marL="0" indent="0">
              <a:buNone/>
            </a:pPr>
            <a:r>
              <a:rPr lang="en-US" sz="2000" b="1" dirty="0">
                <a:solidFill>
                  <a:srgbClr val="3EE0C5"/>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978408" y="3026664"/>
            <a:ext cx="4892040" cy="310896"/>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Run the same gate CI runs</a:t>
            </a:r>
            <a:endParaRPr lang="en-US" sz="1600" dirty="0"/>
          </a:p>
        </p:txBody>
      </p:sp>
      <p:sp>
        <p:nvSpPr>
          <p:cNvPr id="20" name="Text 18"/>
          <p:cNvSpPr/>
          <p:nvPr/>
        </p:nvSpPr>
        <p:spPr>
          <a:xfrm>
            <a:off x="978408" y="3410712"/>
            <a:ext cx="4892040" cy="384048"/>
          </a:xfrm>
          <a:prstGeom prst="rect">
            <a:avLst/>
          </a:prstGeom>
          <a:noFill/>
          <a:ln/>
        </p:spPr>
        <p:txBody>
          <a:bodyPr wrap="square" lIns="0" tIns="0" rIns="0" bIns="0" rtlCol="0" anchor="ctr"/>
          <a:lstStyle/>
          <a:p>
            <a:pPr marL="0" indent="0">
              <a:buNone/>
            </a:pPr>
            <a:r>
              <a:rPr lang="en-US" sz="1300" dirty="0">
                <a:solidFill>
                  <a:srgbClr val="E4C58B"/>
                </a:solidFill>
                <a:latin typeface="Consolas" pitchFamily="34" charset="0"/>
                <a:ea typeface="Consolas" pitchFamily="34" charset="-122"/>
                <a:cs typeface="Consolas" pitchFamily="34" charset="-120"/>
              </a:rPr>
              <a:t>npm run test:swagger-coverage:ci</a:t>
            </a:r>
            <a:endParaRPr lang="en-US" sz="1300" dirty="0"/>
          </a:p>
        </p:txBody>
      </p:sp>
      <p:sp>
        <p:nvSpPr>
          <p:cNvPr id="21" name="Text 19"/>
          <p:cNvSpPr/>
          <p:nvPr/>
        </p:nvSpPr>
        <p:spPr>
          <a:xfrm>
            <a:off x="978408" y="3886200"/>
            <a:ext cx="4892040" cy="329184"/>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Job exits 1. Read the missing list.</a:t>
            </a:r>
            <a:endParaRPr lang="en-US" sz="1300" dirty="0"/>
          </a:p>
        </p:txBody>
      </p:sp>
      <p:sp>
        <p:nvSpPr>
          <p:cNvPr id="22" name="Shape 20"/>
          <p:cNvSpPr/>
          <p:nvPr/>
        </p:nvSpPr>
        <p:spPr>
          <a:xfrm>
            <a:off x="6281928" y="2862072"/>
            <a:ext cx="5687568" cy="1572768"/>
          </a:xfrm>
          <a:prstGeom prst="roundRect">
            <a:avLst>
              <a:gd name="adj" fmla="val 4651"/>
            </a:avLst>
          </a:prstGeom>
          <a:solidFill>
            <a:srgbClr val="132A3A"/>
          </a:solidFill>
          <a:ln w="12700">
            <a:solidFill>
              <a:srgbClr val="2A4A60"/>
            </a:solidFill>
            <a:prstDash val="solid"/>
          </a:ln>
        </p:spPr>
        <p:txBody>
          <a:bodyPr/>
          <a:lstStyle/>
          <a:p>
            <a:endParaRPr lang="en-US"/>
          </a:p>
        </p:txBody>
      </p:sp>
      <p:sp>
        <p:nvSpPr>
          <p:cNvPr id="23" name="Text 21"/>
          <p:cNvSpPr/>
          <p:nvPr/>
        </p:nvSpPr>
        <p:spPr>
          <a:xfrm>
            <a:off x="6446520" y="3008376"/>
            <a:ext cx="365760" cy="329184"/>
          </a:xfrm>
          <a:prstGeom prst="rect">
            <a:avLst/>
          </a:prstGeom>
          <a:noFill/>
          <a:ln/>
        </p:spPr>
        <p:txBody>
          <a:bodyPr wrap="square" lIns="0" tIns="0" rIns="0" bIns="0" rtlCol="0" anchor="ctr"/>
          <a:lstStyle/>
          <a:p>
            <a:pPr marL="0" indent="0">
              <a:buNone/>
            </a:pPr>
            <a:r>
              <a:rPr lang="en-US" sz="2000" b="1" dirty="0">
                <a:solidFill>
                  <a:srgbClr val="3EE0C5"/>
                </a:solidFill>
                <a:latin typeface="Calibri" pitchFamily="34" charset="0"/>
                <a:ea typeface="Calibri" pitchFamily="34" charset="-122"/>
                <a:cs typeface="Calibri" pitchFamily="34" charset="-120"/>
              </a:rPr>
              <a:t>4</a:t>
            </a:r>
            <a:endParaRPr lang="en-US" sz="2000" dirty="0"/>
          </a:p>
        </p:txBody>
      </p:sp>
      <p:sp>
        <p:nvSpPr>
          <p:cNvPr id="24" name="Text 22"/>
          <p:cNvSpPr/>
          <p:nvPr/>
        </p:nvSpPr>
        <p:spPr>
          <a:xfrm>
            <a:off x="6848856" y="3026664"/>
            <a:ext cx="4892040" cy="310896"/>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Confirm, read-only</a:t>
            </a:r>
            <a:endParaRPr lang="en-US" sz="1600" dirty="0"/>
          </a:p>
        </p:txBody>
      </p:sp>
      <p:sp>
        <p:nvSpPr>
          <p:cNvPr id="25" name="Text 23"/>
          <p:cNvSpPr/>
          <p:nvPr/>
        </p:nvSpPr>
        <p:spPr>
          <a:xfrm>
            <a:off x="6848856" y="3410712"/>
            <a:ext cx="4892040" cy="384048"/>
          </a:xfrm>
          <a:prstGeom prst="rect">
            <a:avLst/>
          </a:prstGeom>
          <a:noFill/>
          <a:ln/>
        </p:spPr>
        <p:txBody>
          <a:bodyPr wrap="square" lIns="0" tIns="0" rIns="0" bIns="0" rtlCol="0" anchor="ctr"/>
          <a:lstStyle/>
          <a:p>
            <a:pPr marL="0" indent="0">
              <a:buNone/>
            </a:pPr>
            <a:r>
              <a:rPr lang="en-US" sz="1300" dirty="0">
                <a:solidFill>
                  <a:srgbClr val="E4C58B"/>
                </a:solidFill>
                <a:latin typeface="Consolas" pitchFamily="34" charset="0"/>
                <a:ea typeface="Consolas" pitchFamily="34" charset="-122"/>
                <a:cs typeface="Consolas" pitchFamily="34" charset="-120"/>
              </a:rPr>
              <a:t>Local agent: ContractCoverageAuditor</a:t>
            </a:r>
            <a:endParaRPr lang="en-US" sz="1300" dirty="0"/>
          </a:p>
        </p:txBody>
      </p:sp>
      <p:sp>
        <p:nvSpPr>
          <p:cNvPr id="26" name="Text 24"/>
          <p:cNvSpPr/>
          <p:nvPr/>
        </p:nvSpPr>
        <p:spPr>
          <a:xfrm>
            <a:off x="6848856" y="3886200"/>
            <a:ext cx="4892040" cy="329184"/>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Report the gap. Do not edit tests yet.</a:t>
            </a:r>
            <a:endParaRPr lang="en-US" sz="1300" dirty="0"/>
          </a:p>
        </p:txBody>
      </p:sp>
      <p:sp>
        <p:nvSpPr>
          <p:cNvPr id="27" name="Shape 25"/>
          <p:cNvSpPr/>
          <p:nvPr/>
        </p:nvSpPr>
        <p:spPr>
          <a:xfrm>
            <a:off x="411480" y="4553712"/>
            <a:ext cx="5687568" cy="1572768"/>
          </a:xfrm>
          <a:prstGeom prst="roundRect">
            <a:avLst>
              <a:gd name="adj" fmla="val 4651"/>
            </a:avLst>
          </a:prstGeom>
          <a:solidFill>
            <a:srgbClr val="132A3A"/>
          </a:solidFill>
          <a:ln w="12700">
            <a:solidFill>
              <a:srgbClr val="2A4A60"/>
            </a:solidFill>
            <a:prstDash val="solid"/>
          </a:ln>
        </p:spPr>
        <p:txBody>
          <a:bodyPr/>
          <a:lstStyle/>
          <a:p>
            <a:endParaRPr lang="en-US"/>
          </a:p>
        </p:txBody>
      </p:sp>
      <p:sp>
        <p:nvSpPr>
          <p:cNvPr id="28" name="Text 26"/>
          <p:cNvSpPr/>
          <p:nvPr/>
        </p:nvSpPr>
        <p:spPr>
          <a:xfrm>
            <a:off x="576072" y="4700016"/>
            <a:ext cx="365760" cy="329184"/>
          </a:xfrm>
          <a:prstGeom prst="rect">
            <a:avLst/>
          </a:prstGeom>
          <a:noFill/>
          <a:ln/>
        </p:spPr>
        <p:txBody>
          <a:bodyPr wrap="square" lIns="0" tIns="0" rIns="0" bIns="0" rtlCol="0" anchor="ctr"/>
          <a:lstStyle/>
          <a:p>
            <a:pPr marL="0" indent="0">
              <a:buNone/>
            </a:pPr>
            <a:r>
              <a:rPr lang="en-US" sz="2000" b="1" dirty="0">
                <a:solidFill>
                  <a:srgbClr val="3EE0C5"/>
                </a:solidFill>
                <a:latin typeface="Calibri" pitchFamily="34" charset="0"/>
                <a:ea typeface="Calibri" pitchFamily="34" charset="-122"/>
                <a:cs typeface="Calibri" pitchFamily="34" charset="-120"/>
              </a:rPr>
              <a:t>5</a:t>
            </a:r>
            <a:endParaRPr lang="en-US" sz="2000" dirty="0"/>
          </a:p>
        </p:txBody>
      </p:sp>
      <p:sp>
        <p:nvSpPr>
          <p:cNvPr id="29" name="Text 27"/>
          <p:cNvSpPr/>
          <p:nvPr/>
        </p:nvSpPr>
        <p:spPr>
          <a:xfrm>
            <a:off x="978408" y="4718304"/>
            <a:ext cx="4892040" cy="310896"/>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Implement the missing ops</a:t>
            </a:r>
            <a:endParaRPr lang="en-US" sz="1600" dirty="0"/>
          </a:p>
        </p:txBody>
      </p:sp>
      <p:sp>
        <p:nvSpPr>
          <p:cNvPr id="30" name="Text 28"/>
          <p:cNvSpPr/>
          <p:nvPr/>
        </p:nvSpPr>
        <p:spPr>
          <a:xfrm>
            <a:off x="978408" y="5102352"/>
            <a:ext cx="4892040" cy="384048"/>
          </a:xfrm>
          <a:prstGeom prst="rect">
            <a:avLst/>
          </a:prstGeom>
          <a:noFill/>
          <a:ln/>
        </p:spPr>
        <p:txBody>
          <a:bodyPr wrap="square" lIns="0" tIns="0" rIns="0" bIns="0" rtlCol="0" anchor="ctr"/>
          <a:lstStyle/>
          <a:p>
            <a:pPr marL="0" indent="0">
              <a:buNone/>
            </a:pPr>
            <a:r>
              <a:rPr lang="en-US" sz="1300" dirty="0">
                <a:solidFill>
                  <a:srgbClr val="E4C58B"/>
                </a:solidFill>
                <a:latin typeface="Consolas" pitchFamily="34" charset="0"/>
                <a:ea typeface="Consolas" pitchFamily="34" charset="-122"/>
                <a:cs typeface="Consolas" pitchFamily="34" charset="-120"/>
              </a:rPr>
              <a:t>Local agent: TestCaseGenratorViaSwagger</a:t>
            </a:r>
            <a:endParaRPr lang="en-US" sz="1300" dirty="0"/>
          </a:p>
        </p:txBody>
      </p:sp>
      <p:sp>
        <p:nvSpPr>
          <p:cNvPr id="31" name="Text 29"/>
          <p:cNvSpPr/>
          <p:nvPr/>
        </p:nvSpPr>
        <p:spPr>
          <a:xfrm>
            <a:off x="978408" y="5577840"/>
            <a:ext cx="4892040" cy="329184"/>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Or npm run agent:swagger-gaps</a:t>
            </a:r>
            <a:endParaRPr lang="en-US" sz="1300" dirty="0"/>
          </a:p>
        </p:txBody>
      </p:sp>
      <p:sp>
        <p:nvSpPr>
          <p:cNvPr id="32" name="Shape 30"/>
          <p:cNvSpPr/>
          <p:nvPr/>
        </p:nvSpPr>
        <p:spPr>
          <a:xfrm>
            <a:off x="6281928" y="4553712"/>
            <a:ext cx="5687568" cy="1572768"/>
          </a:xfrm>
          <a:prstGeom prst="roundRect">
            <a:avLst>
              <a:gd name="adj" fmla="val 4651"/>
            </a:avLst>
          </a:prstGeom>
          <a:solidFill>
            <a:srgbClr val="132A3A"/>
          </a:solidFill>
          <a:ln w="12700">
            <a:solidFill>
              <a:srgbClr val="2A4A60"/>
            </a:solidFill>
            <a:prstDash val="solid"/>
          </a:ln>
        </p:spPr>
        <p:txBody>
          <a:bodyPr/>
          <a:lstStyle/>
          <a:p>
            <a:endParaRPr lang="en-US"/>
          </a:p>
        </p:txBody>
      </p:sp>
      <p:sp>
        <p:nvSpPr>
          <p:cNvPr id="33" name="Text 31"/>
          <p:cNvSpPr/>
          <p:nvPr/>
        </p:nvSpPr>
        <p:spPr>
          <a:xfrm>
            <a:off x="6446520" y="4700016"/>
            <a:ext cx="365760" cy="329184"/>
          </a:xfrm>
          <a:prstGeom prst="rect">
            <a:avLst/>
          </a:prstGeom>
          <a:noFill/>
          <a:ln/>
        </p:spPr>
        <p:txBody>
          <a:bodyPr wrap="square" lIns="0" tIns="0" rIns="0" bIns="0" rtlCol="0" anchor="ctr"/>
          <a:lstStyle/>
          <a:p>
            <a:pPr marL="0" indent="0">
              <a:buNone/>
            </a:pPr>
            <a:r>
              <a:rPr lang="en-US" sz="2000" b="1" dirty="0">
                <a:solidFill>
                  <a:srgbClr val="3EE0C5"/>
                </a:solidFill>
                <a:latin typeface="Calibri" pitchFamily="34" charset="0"/>
                <a:ea typeface="Calibri" pitchFamily="34" charset="-122"/>
                <a:cs typeface="Calibri" pitchFamily="34" charset="-120"/>
              </a:rPr>
              <a:t>6</a:t>
            </a:r>
            <a:endParaRPr lang="en-US" sz="2000" dirty="0"/>
          </a:p>
        </p:txBody>
      </p:sp>
      <p:sp>
        <p:nvSpPr>
          <p:cNvPr id="34" name="Text 32"/>
          <p:cNvSpPr/>
          <p:nvPr/>
        </p:nvSpPr>
        <p:spPr>
          <a:xfrm>
            <a:off x="6848856" y="4718304"/>
            <a:ext cx="4892040" cy="310896"/>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Prove the close</a:t>
            </a:r>
            <a:endParaRPr lang="en-US" sz="1600" dirty="0"/>
          </a:p>
        </p:txBody>
      </p:sp>
      <p:sp>
        <p:nvSpPr>
          <p:cNvPr id="35" name="Text 33"/>
          <p:cNvSpPr/>
          <p:nvPr/>
        </p:nvSpPr>
        <p:spPr>
          <a:xfrm>
            <a:off x="6848856" y="5102352"/>
            <a:ext cx="4892040" cy="384048"/>
          </a:xfrm>
          <a:prstGeom prst="rect">
            <a:avLst/>
          </a:prstGeom>
          <a:noFill/>
          <a:ln/>
        </p:spPr>
        <p:txBody>
          <a:bodyPr wrap="square" lIns="0" tIns="0" rIns="0" bIns="0" rtlCol="0" anchor="ctr"/>
          <a:lstStyle/>
          <a:p>
            <a:pPr marL="0" indent="0">
              <a:buNone/>
            </a:pPr>
            <a:r>
              <a:rPr lang="en-US" sz="1300" dirty="0">
                <a:solidFill>
                  <a:srgbClr val="E4C58B"/>
                </a:solidFill>
                <a:latin typeface="Consolas" pitchFamily="34" charset="0"/>
                <a:ea typeface="Consolas" pitchFamily="34" charset="-122"/>
                <a:cs typeface="Consolas" pitchFamily="34" charset="-120"/>
              </a:rPr>
              <a:t>npm run test:swagger-coverage</a:t>
            </a:r>
            <a:endParaRPr lang="en-US" sz="1300" dirty="0"/>
          </a:p>
        </p:txBody>
      </p:sp>
      <p:sp>
        <p:nvSpPr>
          <p:cNvPr id="36" name="Text 34"/>
          <p:cNvSpPr/>
          <p:nvPr/>
        </p:nvSpPr>
        <p:spPr>
          <a:xfrm>
            <a:off x="6848856" y="5577840"/>
            <a:ext cx="4892040" cy="329184"/>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Then open the before/after report.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07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WHAT THE AGENT DOES</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A short loop, tied to the gap file</a:t>
            </a:r>
            <a:endParaRPr lang="en-US" sz="2800" dirty="0"/>
          </a:p>
        </p:txBody>
      </p:sp>
      <p:sp>
        <p:nvSpPr>
          <p:cNvPr id="7" name="Shape 5"/>
          <p:cNvSpPr/>
          <p:nvPr/>
        </p:nvSpPr>
        <p:spPr>
          <a:xfrm>
            <a:off x="365760" y="1207008"/>
            <a:ext cx="2231136" cy="2880360"/>
          </a:xfrm>
          <a:prstGeom prst="roundRect">
            <a:avLst>
              <a:gd name="adj" fmla="val 3279"/>
            </a:avLst>
          </a:prstGeom>
          <a:solidFill>
            <a:srgbClr val="132A3A"/>
          </a:solidFill>
          <a:ln w="12700">
            <a:solidFill>
              <a:srgbClr val="2A4A60"/>
            </a:solidFill>
            <a:prstDash val="solid"/>
          </a:ln>
        </p:spPr>
        <p:txBody>
          <a:bodyPr/>
          <a:lstStyle/>
          <a:p>
            <a:endParaRPr lang="en-US"/>
          </a:p>
        </p:txBody>
      </p:sp>
      <p:sp>
        <p:nvSpPr>
          <p:cNvPr id="8" name="Text 6"/>
          <p:cNvSpPr/>
          <p:nvPr/>
        </p:nvSpPr>
        <p:spPr>
          <a:xfrm>
            <a:off x="512064" y="1353312"/>
            <a:ext cx="1920240" cy="310896"/>
          </a:xfrm>
          <a:prstGeom prst="rect">
            <a:avLst/>
          </a:prstGeom>
          <a:noFill/>
          <a:ln/>
        </p:spPr>
        <p:txBody>
          <a:bodyPr wrap="square" lIns="0" tIns="0" rIns="0" bIns="0" rtlCol="0" anchor="ctr"/>
          <a:lstStyle/>
          <a:p>
            <a:pPr marL="0" indent="0">
              <a:buNone/>
            </a:pPr>
            <a:r>
              <a:rPr lang="en-US" sz="1600" b="1" dirty="0">
                <a:solidFill>
                  <a:srgbClr val="3EE0C5"/>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512064" y="1719072"/>
            <a:ext cx="1938528" cy="640080"/>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Read the gap</a:t>
            </a:r>
            <a:endParaRPr lang="en-US" sz="1600" dirty="0"/>
          </a:p>
        </p:txBody>
      </p:sp>
      <p:sp>
        <p:nvSpPr>
          <p:cNvPr id="10" name="Text 8"/>
          <p:cNvSpPr/>
          <p:nvPr/>
        </p:nvSpPr>
        <p:spPr>
          <a:xfrm>
            <a:off x="512064" y="2468880"/>
            <a:ext cx="1938528" cy="128016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reports/swagger-coverage.json</a:t>
            </a:r>
            <a:endParaRPr lang="en-US" sz="1300" dirty="0"/>
          </a:p>
          <a:p>
            <a:pPr marL="0" indent="0">
              <a:buNone/>
            </a:pPr>
            <a:r>
              <a:rPr lang="en-US" sz="1300" dirty="0">
                <a:solidFill>
                  <a:srgbClr val="D5DEE8"/>
                </a:solidFill>
                <a:latin typeface="Calibri" pitchFamily="34" charset="0"/>
                <a:ea typeface="Calibri" pitchFamily="34" charset="-122"/>
                <a:cs typeface="Calibri" pitchFamily="34" charset="-120"/>
              </a:rPr>
              <a:t>Only rows marked missing.</a:t>
            </a:r>
            <a:endParaRPr lang="en-US" sz="1300" dirty="0"/>
          </a:p>
        </p:txBody>
      </p:sp>
      <p:sp>
        <p:nvSpPr>
          <p:cNvPr id="11" name="Shape 9"/>
          <p:cNvSpPr/>
          <p:nvPr/>
        </p:nvSpPr>
        <p:spPr>
          <a:xfrm>
            <a:off x="2706624" y="1207008"/>
            <a:ext cx="2231136" cy="2880360"/>
          </a:xfrm>
          <a:prstGeom prst="roundRect">
            <a:avLst>
              <a:gd name="adj" fmla="val 3279"/>
            </a:avLst>
          </a:prstGeom>
          <a:solidFill>
            <a:srgbClr val="132A3A"/>
          </a:solidFill>
          <a:ln w="12700">
            <a:solidFill>
              <a:srgbClr val="2A4A60"/>
            </a:solidFill>
            <a:prstDash val="solid"/>
          </a:ln>
        </p:spPr>
        <p:txBody>
          <a:bodyPr/>
          <a:lstStyle/>
          <a:p>
            <a:endParaRPr lang="en-US"/>
          </a:p>
        </p:txBody>
      </p:sp>
      <p:sp>
        <p:nvSpPr>
          <p:cNvPr id="12" name="Text 10"/>
          <p:cNvSpPr/>
          <p:nvPr/>
        </p:nvSpPr>
        <p:spPr>
          <a:xfrm>
            <a:off x="2852928" y="1353312"/>
            <a:ext cx="1920240" cy="310896"/>
          </a:xfrm>
          <a:prstGeom prst="rect">
            <a:avLst/>
          </a:prstGeom>
          <a:noFill/>
          <a:ln/>
        </p:spPr>
        <p:txBody>
          <a:bodyPr wrap="square" lIns="0" tIns="0" rIns="0" bIns="0" rtlCol="0" anchor="ctr"/>
          <a:lstStyle/>
          <a:p>
            <a:pPr marL="0" indent="0">
              <a:buNone/>
            </a:pPr>
            <a:r>
              <a:rPr lang="en-US" sz="1600" b="1" dirty="0">
                <a:solidFill>
                  <a:srgbClr val="3EE0C5"/>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2852928" y="1719072"/>
            <a:ext cx="1938528" cy="640080"/>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Read neighbors</a:t>
            </a:r>
            <a:endParaRPr lang="en-US" sz="1600" dirty="0"/>
          </a:p>
        </p:txBody>
      </p:sp>
      <p:sp>
        <p:nvSpPr>
          <p:cNvPr id="14" name="Text 12"/>
          <p:cNvSpPr/>
          <p:nvPr/>
        </p:nvSpPr>
        <p:spPr>
          <a:xfrm>
            <a:off x="2852928" y="2468880"/>
            <a:ext cx="1938528" cy="128016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The consumer spec and pact</a:t>
            </a:r>
            <a:endParaRPr lang="en-US" sz="1300" dirty="0"/>
          </a:p>
          <a:p>
            <a:pPr marL="0" indent="0">
              <a:buNone/>
            </a:pPr>
            <a:r>
              <a:rPr lang="en-US" sz="1300" dirty="0">
                <a:solidFill>
                  <a:srgbClr val="D5DEE8"/>
                </a:solidFill>
                <a:latin typeface="Calibri" pitchFamily="34" charset="0"/>
                <a:ea typeface="Calibri" pitchFamily="34" charset="-122"/>
                <a:cs typeface="Calibri" pitchFamily="34" charset="-120"/>
              </a:rPr>
              <a:t>factory for that service.</a:t>
            </a:r>
            <a:endParaRPr lang="en-US" sz="1300" dirty="0"/>
          </a:p>
        </p:txBody>
      </p:sp>
      <p:sp>
        <p:nvSpPr>
          <p:cNvPr id="15" name="Shape 13"/>
          <p:cNvSpPr/>
          <p:nvPr/>
        </p:nvSpPr>
        <p:spPr>
          <a:xfrm>
            <a:off x="5047488" y="1207008"/>
            <a:ext cx="2231136" cy="2880360"/>
          </a:xfrm>
          <a:prstGeom prst="roundRect">
            <a:avLst>
              <a:gd name="adj" fmla="val 3279"/>
            </a:avLst>
          </a:prstGeom>
          <a:solidFill>
            <a:srgbClr val="132A3A"/>
          </a:solidFill>
          <a:ln w="12700">
            <a:solidFill>
              <a:srgbClr val="2A4A60"/>
            </a:solidFill>
            <a:prstDash val="solid"/>
          </a:ln>
        </p:spPr>
        <p:txBody>
          <a:bodyPr/>
          <a:lstStyle/>
          <a:p>
            <a:endParaRPr lang="en-US"/>
          </a:p>
        </p:txBody>
      </p:sp>
      <p:sp>
        <p:nvSpPr>
          <p:cNvPr id="16" name="Text 14"/>
          <p:cNvSpPr/>
          <p:nvPr/>
        </p:nvSpPr>
        <p:spPr>
          <a:xfrm>
            <a:off x="5193792" y="1353312"/>
            <a:ext cx="1920240" cy="310896"/>
          </a:xfrm>
          <a:prstGeom prst="rect">
            <a:avLst/>
          </a:prstGeom>
          <a:noFill/>
          <a:ln/>
        </p:spPr>
        <p:txBody>
          <a:bodyPr wrap="square" lIns="0" tIns="0" rIns="0" bIns="0" rtlCol="0" anchor="ctr"/>
          <a:lstStyle/>
          <a:p>
            <a:pPr marL="0" indent="0">
              <a:buNone/>
            </a:pPr>
            <a:r>
              <a:rPr lang="en-US" sz="1600" b="1" dirty="0">
                <a:solidFill>
                  <a:srgbClr val="3EE0C5"/>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5193792" y="1719072"/>
            <a:ext cx="1938528" cy="640080"/>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Write the contract</a:t>
            </a:r>
            <a:endParaRPr lang="en-US" sz="1600" dirty="0"/>
          </a:p>
        </p:txBody>
      </p:sp>
      <p:sp>
        <p:nvSpPr>
          <p:cNvPr id="18" name="Text 16"/>
          <p:cNvSpPr/>
          <p:nvPr/>
        </p:nvSpPr>
        <p:spPr>
          <a:xfrm>
            <a:off x="5193792" y="2468880"/>
            <a:ext cx="1938528" cy="128016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withRequest and willRespondWith</a:t>
            </a:r>
            <a:endParaRPr lang="en-US" sz="1300" dirty="0"/>
          </a:p>
          <a:p>
            <a:pPr marL="0" indent="0">
              <a:buNone/>
            </a:pPr>
            <a:r>
              <a:rPr lang="en-US" sz="1300" dirty="0">
                <a:solidFill>
                  <a:srgbClr val="D5DEE8"/>
                </a:solidFill>
                <a:latin typeface="Calibri" pitchFamily="34" charset="0"/>
                <a:ea typeface="Calibri" pitchFamily="34" charset="-122"/>
                <a:cs typeface="Calibri" pitchFamily="34" charset="-120"/>
              </a:rPr>
              <a:t>under the existing names.</a:t>
            </a:r>
            <a:endParaRPr lang="en-US" sz="1300" dirty="0"/>
          </a:p>
        </p:txBody>
      </p:sp>
      <p:sp>
        <p:nvSpPr>
          <p:cNvPr id="19" name="Shape 17"/>
          <p:cNvSpPr/>
          <p:nvPr/>
        </p:nvSpPr>
        <p:spPr>
          <a:xfrm>
            <a:off x="7388352" y="1207008"/>
            <a:ext cx="2231136" cy="2880360"/>
          </a:xfrm>
          <a:prstGeom prst="roundRect">
            <a:avLst>
              <a:gd name="adj" fmla="val 3279"/>
            </a:avLst>
          </a:prstGeom>
          <a:solidFill>
            <a:srgbClr val="132A3A"/>
          </a:solidFill>
          <a:ln w="12700">
            <a:solidFill>
              <a:srgbClr val="2A4A60"/>
            </a:solidFill>
            <a:prstDash val="solid"/>
          </a:ln>
        </p:spPr>
        <p:txBody>
          <a:bodyPr/>
          <a:lstStyle/>
          <a:p>
            <a:endParaRPr lang="en-US"/>
          </a:p>
        </p:txBody>
      </p:sp>
      <p:sp>
        <p:nvSpPr>
          <p:cNvPr id="20" name="Text 18"/>
          <p:cNvSpPr/>
          <p:nvPr/>
        </p:nvSpPr>
        <p:spPr>
          <a:xfrm>
            <a:off x="7534656" y="1353312"/>
            <a:ext cx="1920240" cy="310896"/>
          </a:xfrm>
          <a:prstGeom prst="rect">
            <a:avLst/>
          </a:prstGeom>
          <a:noFill/>
          <a:ln/>
        </p:spPr>
        <p:txBody>
          <a:bodyPr wrap="square" lIns="0" tIns="0" rIns="0" bIns="0" rtlCol="0" anchor="ctr"/>
          <a:lstStyle/>
          <a:p>
            <a:pPr marL="0" indent="0">
              <a:buNone/>
            </a:pPr>
            <a:r>
              <a:rPr lang="en-US" sz="1600" b="1" dirty="0">
                <a:solidFill>
                  <a:srgbClr val="3EE0C5"/>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7534656" y="1719072"/>
            <a:ext cx="1938528" cy="640080"/>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Re-run</a:t>
            </a:r>
            <a:endParaRPr lang="en-US" sz="1600" dirty="0"/>
          </a:p>
        </p:txBody>
      </p:sp>
      <p:sp>
        <p:nvSpPr>
          <p:cNvPr id="22" name="Text 20"/>
          <p:cNvSpPr/>
          <p:nvPr/>
        </p:nvSpPr>
        <p:spPr>
          <a:xfrm>
            <a:off x="7534656" y="2468880"/>
            <a:ext cx="1938528" cy="128016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Consumer tests, then the</a:t>
            </a:r>
            <a:endParaRPr lang="en-US" sz="1300" dirty="0"/>
          </a:p>
          <a:p>
            <a:pPr marL="0" indent="0">
              <a:buNone/>
            </a:pPr>
            <a:r>
              <a:rPr lang="en-US" sz="1300" dirty="0">
                <a:solidFill>
                  <a:srgbClr val="D5DEE8"/>
                </a:solidFill>
                <a:latin typeface="Calibri" pitchFamily="34" charset="0"/>
                <a:ea typeface="Calibri" pitchFamily="34" charset="-122"/>
                <a:cs typeface="Calibri" pitchFamily="34" charset="-120"/>
              </a:rPr>
              <a:t>Swagger coverage gate.</a:t>
            </a:r>
            <a:endParaRPr lang="en-US" sz="1300" dirty="0"/>
          </a:p>
        </p:txBody>
      </p:sp>
      <p:sp>
        <p:nvSpPr>
          <p:cNvPr id="23" name="Shape 21"/>
          <p:cNvSpPr/>
          <p:nvPr/>
        </p:nvSpPr>
        <p:spPr>
          <a:xfrm>
            <a:off x="9729216" y="1207008"/>
            <a:ext cx="2231136" cy="2880360"/>
          </a:xfrm>
          <a:prstGeom prst="roundRect">
            <a:avLst>
              <a:gd name="adj" fmla="val 3279"/>
            </a:avLst>
          </a:prstGeom>
          <a:solidFill>
            <a:srgbClr val="132A3A"/>
          </a:solidFill>
          <a:ln w="12700">
            <a:solidFill>
              <a:srgbClr val="2A4A60"/>
            </a:solidFill>
            <a:prstDash val="solid"/>
          </a:ln>
        </p:spPr>
        <p:txBody>
          <a:bodyPr/>
          <a:lstStyle/>
          <a:p>
            <a:endParaRPr lang="en-US"/>
          </a:p>
        </p:txBody>
      </p:sp>
      <p:sp>
        <p:nvSpPr>
          <p:cNvPr id="24" name="Text 22"/>
          <p:cNvSpPr/>
          <p:nvPr/>
        </p:nvSpPr>
        <p:spPr>
          <a:xfrm>
            <a:off x="9875520" y="1353312"/>
            <a:ext cx="1920240" cy="310896"/>
          </a:xfrm>
          <a:prstGeom prst="rect">
            <a:avLst/>
          </a:prstGeom>
          <a:noFill/>
          <a:ln/>
        </p:spPr>
        <p:txBody>
          <a:bodyPr wrap="square" lIns="0" tIns="0" rIns="0" bIns="0" rtlCol="0" anchor="ctr"/>
          <a:lstStyle/>
          <a:p>
            <a:pPr marL="0" indent="0">
              <a:buNone/>
            </a:pPr>
            <a:r>
              <a:rPr lang="en-US" sz="1600" b="1" dirty="0">
                <a:solidFill>
                  <a:srgbClr val="3EE0C5"/>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9875520" y="1719072"/>
            <a:ext cx="1938528" cy="640080"/>
          </a:xfrm>
          <a:prstGeom prst="rect">
            <a:avLst/>
          </a:prstGeom>
          <a:noFill/>
          <a:ln/>
        </p:spPr>
        <p:txBody>
          <a:bodyPr wrap="square" lIns="0" tIns="0" rIns="0" bIns="0" rtlCol="0" anchor="ctr"/>
          <a:lstStyle/>
          <a:p>
            <a:pPr marL="0" indent="0">
              <a:buNone/>
            </a:pPr>
            <a:r>
              <a:rPr lang="en-US" sz="1600" b="1" dirty="0">
                <a:solidFill>
                  <a:srgbClr val="F7F9FC"/>
                </a:solidFill>
                <a:latin typeface="Calibri" pitchFamily="34" charset="0"/>
                <a:ea typeface="Calibri" pitchFamily="34" charset="-122"/>
                <a:cs typeface="Calibri" pitchFamily="34" charset="-120"/>
              </a:rPr>
              <a:t>Finish</a:t>
            </a:r>
            <a:endParaRPr lang="en-US" sz="1600" dirty="0"/>
          </a:p>
        </p:txBody>
      </p:sp>
      <p:sp>
        <p:nvSpPr>
          <p:cNvPr id="26" name="Text 24"/>
          <p:cNvSpPr/>
          <p:nvPr/>
        </p:nvSpPr>
        <p:spPr>
          <a:xfrm>
            <a:off x="9875520" y="2468880"/>
            <a:ext cx="1938528" cy="128016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List what was implemented.</a:t>
            </a:r>
            <a:endParaRPr lang="en-US" sz="1300" dirty="0"/>
          </a:p>
          <a:p>
            <a:pPr marL="0" indent="0">
              <a:buNone/>
            </a:pPr>
            <a:r>
              <a:rPr lang="en-US" sz="1300" dirty="0">
                <a:solidFill>
                  <a:srgbClr val="D5DEE8"/>
                </a:solidFill>
                <a:latin typeface="Calibri" pitchFamily="34" charset="0"/>
                <a:ea typeface="Calibri" pitchFamily="34" charset="-122"/>
                <a:cs typeface="Calibri" pitchFamily="34" charset="-120"/>
              </a:rPr>
              <a:t>Write the before/after report.</a:t>
            </a:r>
            <a:endParaRPr lang="en-US" sz="1300" dirty="0"/>
          </a:p>
        </p:txBody>
      </p:sp>
      <p:sp>
        <p:nvSpPr>
          <p:cNvPr id="27" name="Shape 25"/>
          <p:cNvSpPr/>
          <p:nvPr/>
        </p:nvSpPr>
        <p:spPr>
          <a:xfrm>
            <a:off x="365760" y="4251960"/>
            <a:ext cx="11430000" cy="1965960"/>
          </a:xfrm>
          <a:prstGeom prst="roundRect">
            <a:avLst>
              <a:gd name="adj" fmla="val 3721"/>
            </a:avLst>
          </a:prstGeom>
          <a:solidFill>
            <a:srgbClr val="183648"/>
          </a:solidFill>
          <a:ln w="12700">
            <a:solidFill>
              <a:srgbClr val="2A4A60"/>
            </a:solidFill>
            <a:prstDash val="solid"/>
          </a:ln>
        </p:spPr>
        <p:txBody>
          <a:bodyPr/>
          <a:lstStyle/>
          <a:p>
            <a:endParaRPr lang="en-US"/>
          </a:p>
        </p:txBody>
      </p:sp>
      <p:sp>
        <p:nvSpPr>
          <p:cNvPr id="28" name="Text 26"/>
          <p:cNvSpPr/>
          <p:nvPr/>
        </p:nvSpPr>
        <p:spPr>
          <a:xfrm>
            <a:off x="594360" y="4462272"/>
            <a:ext cx="265176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Prompt</a:t>
            </a:r>
            <a:endParaRPr lang="en-US" sz="1300" dirty="0"/>
          </a:p>
        </p:txBody>
      </p:sp>
      <p:sp>
        <p:nvSpPr>
          <p:cNvPr id="29" name="Text 27"/>
          <p:cNvSpPr/>
          <p:nvPr/>
        </p:nvSpPr>
        <p:spPr>
          <a:xfrm>
            <a:off x="594360" y="4800600"/>
            <a:ext cx="2651760" cy="1097280"/>
          </a:xfrm>
          <a:prstGeom prst="rect">
            <a:avLst/>
          </a:prstGeom>
          <a:noFill/>
          <a:ln/>
        </p:spPr>
        <p:txBody>
          <a:bodyPr wrap="square" lIns="0" tIns="0" rIns="0" bIns="0" rtlCol="0" anchor="ctr"/>
          <a:lstStyle/>
          <a:p>
            <a:pPr marL="0" indent="0">
              <a:buNone/>
            </a:pPr>
            <a:r>
              <a:rPr lang="en-US" sz="1400" dirty="0">
                <a:solidFill>
                  <a:srgbClr val="F7F9FC"/>
                </a:solidFill>
                <a:latin typeface="Calibri" pitchFamily="34" charset="0"/>
                <a:ea typeface="Calibri" pitchFamily="34" charset="-122"/>
                <a:cs typeface="Calibri" pitchFamily="34" charset="-120"/>
              </a:rPr>
              <a:t>TestCaseGenratorViaSwagger</a:t>
            </a:r>
            <a:endParaRPr lang="en-US" sz="1400" dirty="0"/>
          </a:p>
        </p:txBody>
      </p:sp>
      <p:sp>
        <p:nvSpPr>
          <p:cNvPr id="30" name="Text 28"/>
          <p:cNvSpPr/>
          <p:nvPr/>
        </p:nvSpPr>
        <p:spPr>
          <a:xfrm>
            <a:off x="3429000" y="4462272"/>
            <a:ext cx="265176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Turns</a:t>
            </a:r>
            <a:endParaRPr lang="en-US" sz="1300" dirty="0"/>
          </a:p>
        </p:txBody>
      </p:sp>
      <p:sp>
        <p:nvSpPr>
          <p:cNvPr id="31" name="Text 29"/>
          <p:cNvSpPr/>
          <p:nvPr/>
        </p:nvSpPr>
        <p:spPr>
          <a:xfrm>
            <a:off x="3429000" y="4800600"/>
            <a:ext cx="2651760" cy="1097280"/>
          </a:xfrm>
          <a:prstGeom prst="rect">
            <a:avLst/>
          </a:prstGeom>
          <a:noFill/>
          <a:ln/>
        </p:spPr>
        <p:txBody>
          <a:bodyPr wrap="square" lIns="0" tIns="0" rIns="0" bIns="0" rtlCol="0" anchor="ctr"/>
          <a:lstStyle/>
          <a:p>
            <a:pPr marL="0" indent="0">
              <a:buNone/>
            </a:pPr>
            <a:r>
              <a:rPr lang="en-US" sz="1400" dirty="0">
                <a:solidFill>
                  <a:srgbClr val="F7F9FC"/>
                </a:solidFill>
                <a:latin typeface="Calibri" pitchFamily="34" charset="0"/>
                <a:ea typeface="Calibri" pitchFamily="34" charset="-122"/>
                <a:cs typeface="Calibri" pitchFamily="34" charset="-120"/>
              </a:rPr>
              <a:t>Up to 12, then it must finish</a:t>
            </a:r>
            <a:endParaRPr lang="en-US" sz="1400" dirty="0"/>
          </a:p>
        </p:txBody>
      </p:sp>
      <p:sp>
        <p:nvSpPr>
          <p:cNvPr id="32" name="Text 30"/>
          <p:cNvSpPr/>
          <p:nvPr/>
        </p:nvSpPr>
        <p:spPr>
          <a:xfrm>
            <a:off x="6263640" y="4462272"/>
            <a:ext cx="265176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Model</a:t>
            </a:r>
            <a:endParaRPr lang="en-US" sz="1300" dirty="0"/>
          </a:p>
        </p:txBody>
      </p:sp>
      <p:sp>
        <p:nvSpPr>
          <p:cNvPr id="33" name="Text 31"/>
          <p:cNvSpPr/>
          <p:nvPr/>
        </p:nvSpPr>
        <p:spPr>
          <a:xfrm>
            <a:off x="6263640" y="4800600"/>
            <a:ext cx="2651760" cy="1097280"/>
          </a:xfrm>
          <a:prstGeom prst="rect">
            <a:avLst/>
          </a:prstGeom>
          <a:noFill/>
          <a:ln/>
        </p:spPr>
        <p:txBody>
          <a:bodyPr wrap="square" lIns="0" tIns="0" rIns="0" bIns="0" rtlCol="0" anchor="ctr"/>
          <a:lstStyle/>
          <a:p>
            <a:pPr marL="0" indent="0">
              <a:buNone/>
            </a:pPr>
            <a:r>
              <a:rPr lang="en-US" sz="1400" dirty="0">
                <a:solidFill>
                  <a:srgbClr val="F7F9FC"/>
                </a:solidFill>
                <a:latin typeface="Calibri" pitchFamily="34" charset="0"/>
                <a:ea typeface="Calibri" pitchFamily="34" charset="-122"/>
                <a:cs typeface="Calibri" pitchFamily="34" charset="-120"/>
              </a:rPr>
              <a:t>LLM in the room, or Azure OpenAI / OpenAI for the script</a:t>
            </a:r>
            <a:endParaRPr lang="en-US" sz="1400" dirty="0"/>
          </a:p>
        </p:txBody>
      </p:sp>
      <p:sp>
        <p:nvSpPr>
          <p:cNvPr id="34" name="Text 32"/>
          <p:cNvSpPr/>
          <p:nvPr/>
        </p:nvSpPr>
        <p:spPr>
          <a:xfrm>
            <a:off x="9098280" y="4462272"/>
            <a:ext cx="265176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Writes</a:t>
            </a:r>
            <a:endParaRPr lang="en-US" sz="1300" dirty="0"/>
          </a:p>
        </p:txBody>
      </p:sp>
      <p:sp>
        <p:nvSpPr>
          <p:cNvPr id="35" name="Text 33"/>
          <p:cNvSpPr/>
          <p:nvPr/>
        </p:nvSpPr>
        <p:spPr>
          <a:xfrm>
            <a:off x="9098280" y="4800600"/>
            <a:ext cx="2651760" cy="1097280"/>
          </a:xfrm>
          <a:prstGeom prst="rect">
            <a:avLst/>
          </a:prstGeom>
          <a:noFill/>
          <a:ln/>
        </p:spPr>
        <p:txBody>
          <a:bodyPr wrap="square" lIns="0" tIns="0" rIns="0" bIns="0" rtlCol="0" anchor="ctr"/>
          <a:lstStyle/>
          <a:p>
            <a:pPr marL="0" indent="0">
              <a:buNone/>
            </a:pPr>
            <a:r>
              <a:rPr lang="en-US" sz="1400" dirty="0">
                <a:solidFill>
                  <a:srgbClr val="F7F9FC"/>
                </a:solidFill>
                <a:latin typeface="Calibri" pitchFamily="34" charset="0"/>
                <a:ea typeface="Calibri" pitchFamily="34" charset="-122"/>
                <a:cs typeface="Calibri" pitchFamily="34" charset="-120"/>
              </a:rPr>
              <a:t>tests, src, docs, reports, pacts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08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WHY THIS IS SAFE TO SHOW</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The agent implements inside a fixed frame</a:t>
            </a:r>
            <a:endParaRPr lang="en-US" sz="2800" dirty="0"/>
          </a:p>
        </p:txBody>
      </p:sp>
      <p:sp>
        <p:nvSpPr>
          <p:cNvPr id="7" name="Shape 5"/>
          <p:cNvSpPr/>
          <p:nvPr/>
        </p:nvSpPr>
        <p:spPr>
          <a:xfrm>
            <a:off x="411480" y="1188720"/>
            <a:ext cx="3730752" cy="2359152"/>
          </a:xfrm>
          <a:prstGeom prst="roundRect">
            <a:avLst>
              <a:gd name="adj" fmla="val 3101"/>
            </a:avLst>
          </a:prstGeom>
          <a:solidFill>
            <a:srgbClr val="132A3A"/>
          </a:solidFill>
          <a:ln w="12700">
            <a:solidFill>
              <a:srgbClr val="2A4A60"/>
            </a:solidFill>
            <a:prstDash val="solid"/>
          </a:ln>
        </p:spPr>
        <p:txBody>
          <a:bodyPr/>
          <a:lstStyle/>
          <a:p>
            <a:endParaRPr lang="en-US"/>
          </a:p>
        </p:txBody>
      </p:sp>
      <p:sp>
        <p:nvSpPr>
          <p:cNvPr id="8" name="Text 6"/>
          <p:cNvSpPr/>
          <p:nvPr/>
        </p:nvSpPr>
        <p:spPr>
          <a:xfrm>
            <a:off x="612648" y="1353312"/>
            <a:ext cx="329184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612648" y="1664208"/>
            <a:ext cx="3328416" cy="50292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Diff before writing</a:t>
            </a:r>
            <a:endParaRPr lang="en-US" sz="1800" dirty="0"/>
          </a:p>
        </p:txBody>
      </p:sp>
      <p:sp>
        <p:nvSpPr>
          <p:cNvPr id="10" name="Text 8"/>
          <p:cNvSpPr/>
          <p:nvPr/>
        </p:nvSpPr>
        <p:spPr>
          <a:xfrm>
            <a:off x="612648" y="2240280"/>
            <a:ext cx="3328416" cy="109728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Fetch OpenAPI. Inventory tests/consumer and pacts. Classify covered, partial, missing, deferred. Then edit.</a:t>
            </a:r>
            <a:endParaRPr lang="en-US" sz="1300" dirty="0"/>
          </a:p>
        </p:txBody>
      </p:sp>
      <p:sp>
        <p:nvSpPr>
          <p:cNvPr id="11" name="Shape 9"/>
          <p:cNvSpPr/>
          <p:nvPr/>
        </p:nvSpPr>
        <p:spPr>
          <a:xfrm>
            <a:off x="4297680" y="1188720"/>
            <a:ext cx="3730752" cy="2359152"/>
          </a:xfrm>
          <a:prstGeom prst="roundRect">
            <a:avLst>
              <a:gd name="adj" fmla="val 3101"/>
            </a:avLst>
          </a:prstGeom>
          <a:solidFill>
            <a:srgbClr val="132A3A"/>
          </a:solidFill>
          <a:ln w="12700">
            <a:solidFill>
              <a:srgbClr val="2A4A60"/>
            </a:solidFill>
            <a:prstDash val="solid"/>
          </a:ln>
        </p:spPr>
        <p:txBody>
          <a:bodyPr/>
          <a:lstStyle/>
          <a:p>
            <a:endParaRPr lang="en-US"/>
          </a:p>
        </p:txBody>
      </p:sp>
      <p:sp>
        <p:nvSpPr>
          <p:cNvPr id="12" name="Text 10"/>
          <p:cNvSpPr/>
          <p:nvPr/>
        </p:nvSpPr>
        <p:spPr>
          <a:xfrm>
            <a:off x="4498848" y="1353312"/>
            <a:ext cx="329184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4498848" y="1664208"/>
            <a:ext cx="3328416" cy="50292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Keep the names</a:t>
            </a:r>
            <a:endParaRPr lang="en-US" sz="1800" dirty="0"/>
          </a:p>
        </p:txBody>
      </p:sp>
      <p:sp>
        <p:nvSpPr>
          <p:cNvPr id="14" name="Text 12"/>
          <p:cNvSpPr/>
          <p:nvPr/>
        </p:nvSpPr>
        <p:spPr>
          <a:xfrm>
            <a:off x="4498848" y="2240280"/>
            <a:ext cx="3328416" cy="109728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Providers TaxMesh-CLM through TaxMesh-DOC and TaxMesh-Gateway. Orchestrator consumer is TaxMesh-Client.</a:t>
            </a:r>
            <a:endParaRPr lang="en-US" sz="1300" dirty="0"/>
          </a:p>
        </p:txBody>
      </p:sp>
      <p:sp>
        <p:nvSpPr>
          <p:cNvPr id="15" name="Shape 13"/>
          <p:cNvSpPr/>
          <p:nvPr/>
        </p:nvSpPr>
        <p:spPr>
          <a:xfrm>
            <a:off x="8183880" y="1188720"/>
            <a:ext cx="3730752" cy="2359152"/>
          </a:xfrm>
          <a:prstGeom prst="roundRect">
            <a:avLst>
              <a:gd name="adj" fmla="val 3101"/>
            </a:avLst>
          </a:prstGeom>
          <a:solidFill>
            <a:srgbClr val="132A3A"/>
          </a:solidFill>
          <a:ln w="12700">
            <a:solidFill>
              <a:srgbClr val="2A4A60"/>
            </a:solidFill>
            <a:prstDash val="solid"/>
          </a:ln>
        </p:spPr>
        <p:txBody>
          <a:bodyPr/>
          <a:lstStyle/>
          <a:p>
            <a:endParaRPr lang="en-US"/>
          </a:p>
        </p:txBody>
      </p:sp>
      <p:sp>
        <p:nvSpPr>
          <p:cNvPr id="16" name="Text 14"/>
          <p:cNvSpPr/>
          <p:nvPr/>
        </p:nvSpPr>
        <p:spPr>
          <a:xfrm>
            <a:off x="8385048" y="1353312"/>
            <a:ext cx="329184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8385048" y="1664208"/>
            <a:ext cx="3328416" cy="50292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Map the proxy</a:t>
            </a:r>
            <a:endParaRPr lang="en-US" sz="1800" dirty="0"/>
          </a:p>
        </p:txBody>
      </p:sp>
      <p:sp>
        <p:nvSpPr>
          <p:cNvPr id="18" name="Text 16"/>
          <p:cNvSpPr/>
          <p:nvPr/>
        </p:nvSpPr>
        <p:spPr>
          <a:xfrm>
            <a:off x="8385048" y="2240280"/>
            <a:ext cx="3328416" cy="109728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Swagger /api/proxy/{service}/… is the service path on that provider. Gateway filing and flow stay on the gateway.</a:t>
            </a:r>
            <a:endParaRPr lang="en-US" sz="1300" dirty="0"/>
          </a:p>
        </p:txBody>
      </p:sp>
      <p:sp>
        <p:nvSpPr>
          <p:cNvPr id="19" name="Shape 17"/>
          <p:cNvSpPr/>
          <p:nvPr/>
        </p:nvSpPr>
        <p:spPr>
          <a:xfrm>
            <a:off x="411480" y="3703320"/>
            <a:ext cx="3730752" cy="2359152"/>
          </a:xfrm>
          <a:prstGeom prst="roundRect">
            <a:avLst>
              <a:gd name="adj" fmla="val 3101"/>
            </a:avLst>
          </a:prstGeom>
          <a:solidFill>
            <a:srgbClr val="132A3A"/>
          </a:solidFill>
          <a:ln w="12700">
            <a:solidFill>
              <a:srgbClr val="2A4A60"/>
            </a:solidFill>
            <a:prstDash val="solid"/>
          </a:ln>
        </p:spPr>
        <p:txBody>
          <a:bodyPr/>
          <a:lstStyle/>
          <a:p>
            <a:endParaRPr lang="en-US"/>
          </a:p>
        </p:txBody>
      </p:sp>
      <p:sp>
        <p:nvSpPr>
          <p:cNvPr id="20" name="Text 18"/>
          <p:cNvSpPr/>
          <p:nvPr/>
        </p:nvSpPr>
        <p:spPr>
          <a:xfrm>
            <a:off x="612648" y="3867912"/>
            <a:ext cx="329184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612648" y="4178808"/>
            <a:ext cx="3328416" cy="50292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Stay in the catalog</a:t>
            </a:r>
            <a:endParaRPr lang="en-US" sz="1800" dirty="0"/>
          </a:p>
        </p:txBody>
      </p:sp>
      <p:sp>
        <p:nvSpPr>
          <p:cNvPr id="22" name="Text 20"/>
          <p:cNvSpPr/>
          <p:nvPr/>
        </p:nvSpPr>
        <p:spPr>
          <a:xfrm>
            <a:off x="612648" y="4754880"/>
            <a:ext cx="3328416" cy="109728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CT-00 through CT-17 and the existing pact factories. Extend a suite. Do not start a second framework.</a:t>
            </a:r>
            <a:endParaRPr lang="en-US" sz="1300" dirty="0"/>
          </a:p>
        </p:txBody>
      </p:sp>
      <p:sp>
        <p:nvSpPr>
          <p:cNvPr id="23" name="Shape 21"/>
          <p:cNvSpPr/>
          <p:nvPr/>
        </p:nvSpPr>
        <p:spPr>
          <a:xfrm>
            <a:off x="4297680" y="3703320"/>
            <a:ext cx="3730752" cy="2359152"/>
          </a:xfrm>
          <a:prstGeom prst="roundRect">
            <a:avLst>
              <a:gd name="adj" fmla="val 3101"/>
            </a:avLst>
          </a:prstGeom>
          <a:solidFill>
            <a:srgbClr val="132A3A"/>
          </a:solidFill>
          <a:ln w="12700">
            <a:solidFill>
              <a:srgbClr val="2A4A60"/>
            </a:solidFill>
            <a:prstDash val="solid"/>
          </a:ln>
        </p:spPr>
        <p:txBody>
          <a:bodyPr/>
          <a:lstStyle/>
          <a:p>
            <a:endParaRPr lang="en-US"/>
          </a:p>
        </p:txBody>
      </p:sp>
      <p:sp>
        <p:nvSpPr>
          <p:cNvPr id="24" name="Text 22"/>
          <p:cNvSpPr/>
          <p:nvPr/>
        </p:nvSpPr>
        <p:spPr>
          <a:xfrm>
            <a:off x="4498848" y="3867912"/>
            <a:ext cx="329184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05</a:t>
            </a:r>
            <a:endParaRPr lang="en-US" sz="1300" dirty="0"/>
          </a:p>
        </p:txBody>
      </p:sp>
      <p:sp>
        <p:nvSpPr>
          <p:cNvPr id="25" name="Text 23"/>
          <p:cNvSpPr/>
          <p:nvPr/>
        </p:nvSpPr>
        <p:spPr>
          <a:xfrm>
            <a:off x="4498848" y="4178808"/>
            <a:ext cx="3328416" cy="50292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Narrow tools</a:t>
            </a:r>
            <a:endParaRPr lang="en-US" sz="1800" dirty="0"/>
          </a:p>
        </p:txBody>
      </p:sp>
      <p:sp>
        <p:nvSpPr>
          <p:cNvPr id="26" name="Text 24"/>
          <p:cNvSpPr/>
          <p:nvPr/>
        </p:nvSpPr>
        <p:spPr>
          <a:xfrm>
            <a:off x="4498848" y="4754880"/>
            <a:ext cx="3328416" cy="109728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Writes stay under tests, src, docs, reports, and pacts. Commands stay on consumer tests, coverage, and typecheck.</a:t>
            </a:r>
            <a:endParaRPr lang="en-US" sz="1300" dirty="0"/>
          </a:p>
        </p:txBody>
      </p:sp>
      <p:sp>
        <p:nvSpPr>
          <p:cNvPr id="27" name="Shape 25"/>
          <p:cNvSpPr/>
          <p:nvPr/>
        </p:nvSpPr>
        <p:spPr>
          <a:xfrm>
            <a:off x="8183880" y="3703320"/>
            <a:ext cx="3730752" cy="2359152"/>
          </a:xfrm>
          <a:prstGeom prst="roundRect">
            <a:avLst>
              <a:gd name="adj" fmla="val 3101"/>
            </a:avLst>
          </a:prstGeom>
          <a:solidFill>
            <a:srgbClr val="132A3A"/>
          </a:solidFill>
          <a:ln w="12700">
            <a:solidFill>
              <a:srgbClr val="2A4A60"/>
            </a:solidFill>
            <a:prstDash val="solid"/>
          </a:ln>
        </p:spPr>
        <p:txBody>
          <a:bodyPr/>
          <a:lstStyle/>
          <a:p>
            <a:endParaRPr lang="en-US"/>
          </a:p>
        </p:txBody>
      </p:sp>
      <p:sp>
        <p:nvSpPr>
          <p:cNvPr id="28" name="Text 26"/>
          <p:cNvSpPr/>
          <p:nvPr/>
        </p:nvSpPr>
        <p:spPr>
          <a:xfrm>
            <a:off x="8385048" y="3867912"/>
            <a:ext cx="3291840" cy="274320"/>
          </a:xfrm>
          <a:prstGeom prst="rect">
            <a:avLst/>
          </a:prstGeom>
          <a:noFill/>
          <a:ln/>
        </p:spPr>
        <p:txBody>
          <a:bodyPr wrap="square" lIns="0" tIns="0" rIns="0" bIns="0" rtlCol="0" anchor="ctr"/>
          <a:lstStyle/>
          <a:p>
            <a:pPr marL="0" indent="0">
              <a:buNone/>
            </a:pPr>
            <a:r>
              <a:rPr lang="en-US" sz="1300" b="1" dirty="0">
                <a:solidFill>
                  <a:srgbClr val="3EE0C5"/>
                </a:solidFill>
                <a:latin typeface="Calibri" pitchFamily="34" charset="0"/>
                <a:ea typeface="Calibri" pitchFamily="34" charset="-122"/>
                <a:cs typeface="Calibri" pitchFamily="34" charset="-120"/>
              </a:rPr>
              <a:t>06</a:t>
            </a:r>
            <a:endParaRPr lang="en-US" sz="1300" dirty="0"/>
          </a:p>
        </p:txBody>
      </p:sp>
      <p:sp>
        <p:nvSpPr>
          <p:cNvPr id="29" name="Text 27"/>
          <p:cNvSpPr/>
          <p:nvPr/>
        </p:nvSpPr>
        <p:spPr>
          <a:xfrm>
            <a:off x="8385048" y="4178808"/>
            <a:ext cx="3328416" cy="50292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Leave deferred alone</a:t>
            </a:r>
            <a:endParaRPr lang="en-US" sz="1800" dirty="0"/>
          </a:p>
        </p:txBody>
      </p:sp>
      <p:sp>
        <p:nvSpPr>
          <p:cNvPr id="30" name="Text 28"/>
          <p:cNvSpPr/>
          <p:nvPr/>
        </p:nvSpPr>
        <p:spPr>
          <a:xfrm>
            <a:off x="8385048" y="4754880"/>
            <a:ext cx="3328416" cy="109728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Filing upload 200 needs a real workbook. The agent records it as deferred. End-to-end covers that path.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09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ONE LOOP, THREE PLACES</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Today we run the agent locally</a:t>
            </a:r>
            <a:endParaRPr lang="en-US" sz="2800" dirty="0"/>
          </a:p>
        </p:txBody>
      </p:sp>
      <p:sp>
        <p:nvSpPr>
          <p:cNvPr id="7" name="Shape 5"/>
          <p:cNvSpPr/>
          <p:nvPr/>
        </p:nvSpPr>
        <p:spPr>
          <a:xfrm>
            <a:off x="411480" y="1188720"/>
            <a:ext cx="3730752" cy="4983480"/>
          </a:xfrm>
          <a:prstGeom prst="roundRect">
            <a:avLst>
              <a:gd name="adj" fmla="val 1961"/>
            </a:avLst>
          </a:prstGeom>
          <a:solidFill>
            <a:srgbClr val="132A3A"/>
          </a:solidFill>
          <a:ln w="12700">
            <a:solidFill>
              <a:srgbClr val="2A4A60"/>
            </a:solidFill>
            <a:prstDash val="solid"/>
          </a:ln>
        </p:spPr>
        <p:txBody>
          <a:bodyPr/>
          <a:lstStyle/>
          <a:p>
            <a:endParaRPr lang="en-US"/>
          </a:p>
        </p:txBody>
      </p:sp>
      <p:sp>
        <p:nvSpPr>
          <p:cNvPr id="8" name="Shape 6"/>
          <p:cNvSpPr/>
          <p:nvPr/>
        </p:nvSpPr>
        <p:spPr>
          <a:xfrm>
            <a:off x="411480" y="1188720"/>
            <a:ext cx="3730752" cy="73152"/>
          </a:xfrm>
          <a:prstGeom prst="rect">
            <a:avLst/>
          </a:prstGeom>
          <a:solidFill>
            <a:srgbClr val="3EE0C5"/>
          </a:solidFill>
          <a:ln w="12700">
            <a:solidFill>
              <a:srgbClr val="3EE0C5"/>
            </a:solidFill>
            <a:prstDash val="solid"/>
          </a:ln>
        </p:spPr>
        <p:txBody>
          <a:bodyPr/>
          <a:lstStyle/>
          <a:p>
            <a:endParaRPr lang="en-US"/>
          </a:p>
        </p:txBody>
      </p:sp>
      <p:sp>
        <p:nvSpPr>
          <p:cNvPr id="9" name="Text 7"/>
          <p:cNvSpPr/>
          <p:nvPr/>
        </p:nvSpPr>
        <p:spPr>
          <a:xfrm>
            <a:off x="612648" y="1417320"/>
            <a:ext cx="3337560" cy="64008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Local — this demo</a:t>
            </a:r>
            <a:endParaRPr lang="en-US" sz="1800" dirty="0"/>
          </a:p>
        </p:txBody>
      </p:sp>
      <p:sp>
        <p:nvSpPr>
          <p:cNvPr id="10" name="Text 8"/>
          <p:cNvSpPr/>
          <p:nvPr/>
        </p:nvSpPr>
        <p:spPr>
          <a:xfrm>
            <a:off x="612648" y="2194560"/>
            <a:ext cx="333756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When</a:t>
            </a:r>
            <a:endParaRPr lang="en-US" sz="1200" dirty="0"/>
          </a:p>
        </p:txBody>
      </p:sp>
      <p:sp>
        <p:nvSpPr>
          <p:cNvPr id="11" name="Text 9"/>
          <p:cNvSpPr/>
          <p:nvPr/>
        </p:nvSpPr>
        <p:spPr>
          <a:xfrm>
            <a:off x="612648" y="24505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You point the suite at v2 and ask.</a:t>
            </a:r>
            <a:endParaRPr lang="en-US" sz="1300" dirty="0"/>
          </a:p>
        </p:txBody>
      </p:sp>
      <p:sp>
        <p:nvSpPr>
          <p:cNvPr id="12" name="Text 10"/>
          <p:cNvSpPr/>
          <p:nvPr/>
        </p:nvSpPr>
        <p:spPr>
          <a:xfrm>
            <a:off x="612648" y="3108960"/>
            <a:ext cx="333756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Who</a:t>
            </a:r>
            <a:endParaRPr lang="en-US" sz="1200" dirty="0"/>
          </a:p>
        </p:txBody>
      </p:sp>
      <p:sp>
        <p:nvSpPr>
          <p:cNvPr id="13" name="Text 11"/>
          <p:cNvSpPr/>
          <p:nvPr/>
        </p:nvSpPr>
        <p:spPr>
          <a:xfrm>
            <a:off x="612648" y="33649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Cursor agent on this machine.</a:t>
            </a:r>
            <a:endParaRPr lang="en-US" sz="1300" dirty="0"/>
          </a:p>
        </p:txBody>
      </p:sp>
      <p:sp>
        <p:nvSpPr>
          <p:cNvPr id="14" name="Text 12"/>
          <p:cNvSpPr/>
          <p:nvPr/>
        </p:nvSpPr>
        <p:spPr>
          <a:xfrm>
            <a:off x="612648" y="4023360"/>
            <a:ext cx="333756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Output</a:t>
            </a:r>
            <a:endParaRPr lang="en-US" sz="1200" dirty="0"/>
          </a:p>
        </p:txBody>
      </p:sp>
      <p:sp>
        <p:nvSpPr>
          <p:cNvPr id="15" name="Text 13"/>
          <p:cNvSpPr/>
          <p:nvPr/>
        </p:nvSpPr>
        <p:spPr>
          <a:xfrm>
            <a:off x="612648" y="42793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Contract files in the working tree, plus the gap report.</a:t>
            </a:r>
            <a:endParaRPr lang="en-US" sz="1300" dirty="0"/>
          </a:p>
        </p:txBody>
      </p:sp>
      <p:sp>
        <p:nvSpPr>
          <p:cNvPr id="16" name="Text 14"/>
          <p:cNvSpPr/>
          <p:nvPr/>
        </p:nvSpPr>
        <p:spPr>
          <a:xfrm>
            <a:off x="612648" y="4937760"/>
            <a:ext cx="333756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Review</a:t>
            </a:r>
            <a:endParaRPr lang="en-US" sz="1200" dirty="0"/>
          </a:p>
        </p:txBody>
      </p:sp>
      <p:sp>
        <p:nvSpPr>
          <p:cNvPr id="17" name="Text 15"/>
          <p:cNvSpPr/>
          <p:nvPr/>
        </p:nvSpPr>
        <p:spPr>
          <a:xfrm>
            <a:off x="612648" y="51937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You read the diff, then re-run the gate.</a:t>
            </a:r>
            <a:endParaRPr lang="en-US" sz="1300" dirty="0"/>
          </a:p>
        </p:txBody>
      </p:sp>
      <p:sp>
        <p:nvSpPr>
          <p:cNvPr id="18" name="Shape 16"/>
          <p:cNvSpPr/>
          <p:nvPr/>
        </p:nvSpPr>
        <p:spPr>
          <a:xfrm>
            <a:off x="4297680" y="1188720"/>
            <a:ext cx="3730752" cy="4983480"/>
          </a:xfrm>
          <a:prstGeom prst="roundRect">
            <a:avLst>
              <a:gd name="adj" fmla="val 1961"/>
            </a:avLst>
          </a:prstGeom>
          <a:solidFill>
            <a:srgbClr val="132A3A"/>
          </a:solidFill>
          <a:ln w="12700">
            <a:solidFill>
              <a:srgbClr val="2A4A60"/>
            </a:solidFill>
            <a:prstDash val="solid"/>
          </a:ln>
        </p:spPr>
        <p:txBody>
          <a:bodyPr/>
          <a:lstStyle/>
          <a:p>
            <a:endParaRPr lang="en-US"/>
          </a:p>
        </p:txBody>
      </p:sp>
      <p:sp>
        <p:nvSpPr>
          <p:cNvPr id="19" name="Shape 17"/>
          <p:cNvSpPr/>
          <p:nvPr/>
        </p:nvSpPr>
        <p:spPr>
          <a:xfrm>
            <a:off x="4297680" y="1188720"/>
            <a:ext cx="3730752" cy="73152"/>
          </a:xfrm>
          <a:prstGeom prst="rect">
            <a:avLst/>
          </a:prstGeom>
          <a:solidFill>
            <a:srgbClr val="F0B429"/>
          </a:solidFill>
          <a:ln w="12700">
            <a:solidFill>
              <a:srgbClr val="F0B429"/>
            </a:solidFill>
            <a:prstDash val="solid"/>
          </a:ln>
        </p:spPr>
        <p:txBody>
          <a:bodyPr/>
          <a:lstStyle/>
          <a:p>
            <a:endParaRPr lang="en-US"/>
          </a:p>
        </p:txBody>
      </p:sp>
      <p:sp>
        <p:nvSpPr>
          <p:cNvPr id="20" name="Text 18"/>
          <p:cNvSpPr/>
          <p:nvPr/>
        </p:nvSpPr>
        <p:spPr>
          <a:xfrm>
            <a:off x="4498848" y="1417320"/>
            <a:ext cx="3337560" cy="64008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GitHub Actions</a:t>
            </a:r>
            <a:endParaRPr lang="en-US" sz="1800" dirty="0"/>
          </a:p>
        </p:txBody>
      </p:sp>
      <p:sp>
        <p:nvSpPr>
          <p:cNvPr id="21" name="Text 19"/>
          <p:cNvSpPr/>
          <p:nvPr/>
        </p:nvSpPr>
        <p:spPr>
          <a:xfrm>
            <a:off x="4498848" y="2194560"/>
            <a:ext cx="3337560" cy="237744"/>
          </a:xfrm>
          <a:prstGeom prst="rect">
            <a:avLst/>
          </a:prstGeom>
          <a:noFill/>
          <a:ln/>
        </p:spPr>
        <p:txBody>
          <a:bodyPr wrap="square" lIns="0" tIns="0" rIns="0" bIns="0" rtlCol="0" anchor="ctr"/>
          <a:lstStyle/>
          <a:p>
            <a:pPr marL="0" indent="0">
              <a:buNone/>
            </a:pPr>
            <a:r>
              <a:rPr lang="en-US" sz="1200" b="1" dirty="0">
                <a:solidFill>
                  <a:srgbClr val="F0B429"/>
                </a:solidFill>
                <a:latin typeface="Calibri" pitchFamily="34" charset="0"/>
                <a:ea typeface="Calibri" pitchFamily="34" charset="-122"/>
                <a:cs typeface="Calibri" pitchFamily="34" charset="-120"/>
              </a:rPr>
              <a:t>When</a:t>
            </a:r>
            <a:endParaRPr lang="en-US" sz="1200" dirty="0"/>
          </a:p>
        </p:txBody>
      </p:sp>
      <p:sp>
        <p:nvSpPr>
          <p:cNvPr id="22" name="Text 20"/>
          <p:cNvSpPr/>
          <p:nvPr/>
        </p:nvSpPr>
        <p:spPr>
          <a:xfrm>
            <a:off x="4498848" y="24505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TaxMesh Contract Pipeline fails the Swagger step.</a:t>
            </a:r>
            <a:endParaRPr lang="en-US" sz="1300" dirty="0"/>
          </a:p>
        </p:txBody>
      </p:sp>
      <p:sp>
        <p:nvSpPr>
          <p:cNvPr id="23" name="Text 21"/>
          <p:cNvSpPr/>
          <p:nvPr/>
        </p:nvSpPr>
        <p:spPr>
          <a:xfrm>
            <a:off x="4498848" y="3108960"/>
            <a:ext cx="3337560" cy="237744"/>
          </a:xfrm>
          <a:prstGeom prst="rect">
            <a:avLst/>
          </a:prstGeom>
          <a:noFill/>
          <a:ln/>
        </p:spPr>
        <p:txBody>
          <a:bodyPr wrap="square" lIns="0" tIns="0" rIns="0" bIns="0" rtlCol="0" anchor="ctr"/>
          <a:lstStyle/>
          <a:p>
            <a:pPr marL="0" indent="0">
              <a:buNone/>
            </a:pPr>
            <a:r>
              <a:rPr lang="en-US" sz="1200" b="1" dirty="0">
                <a:solidFill>
                  <a:srgbClr val="F0B429"/>
                </a:solidFill>
                <a:latin typeface="Calibri" pitchFamily="34" charset="0"/>
                <a:ea typeface="Calibri" pitchFamily="34" charset="-122"/>
                <a:cs typeface="Calibri" pitchFamily="34" charset="-120"/>
              </a:rPr>
              <a:t>Who</a:t>
            </a:r>
            <a:endParaRPr lang="en-US" sz="1200" dirty="0"/>
          </a:p>
        </p:txBody>
      </p:sp>
      <p:sp>
        <p:nvSpPr>
          <p:cNvPr id="24" name="Text 22"/>
          <p:cNvSpPr/>
          <p:nvPr/>
        </p:nvSpPr>
        <p:spPr>
          <a:xfrm>
            <a:off x="4498848" y="33649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Workflow Swagger gap AI agent.</a:t>
            </a:r>
            <a:endParaRPr lang="en-US" sz="1300" dirty="0"/>
          </a:p>
        </p:txBody>
      </p:sp>
      <p:sp>
        <p:nvSpPr>
          <p:cNvPr id="25" name="Text 23"/>
          <p:cNvSpPr/>
          <p:nvPr/>
        </p:nvSpPr>
        <p:spPr>
          <a:xfrm>
            <a:off x="4498848" y="4023360"/>
            <a:ext cx="3337560" cy="237744"/>
          </a:xfrm>
          <a:prstGeom prst="rect">
            <a:avLst/>
          </a:prstGeom>
          <a:noFill/>
          <a:ln/>
        </p:spPr>
        <p:txBody>
          <a:bodyPr wrap="square" lIns="0" tIns="0" rIns="0" bIns="0" rtlCol="0" anchor="ctr"/>
          <a:lstStyle/>
          <a:p>
            <a:pPr marL="0" indent="0">
              <a:buNone/>
            </a:pPr>
            <a:r>
              <a:rPr lang="en-US" sz="1200" b="1" dirty="0">
                <a:solidFill>
                  <a:srgbClr val="F0B429"/>
                </a:solidFill>
                <a:latin typeface="Calibri" pitchFamily="34" charset="0"/>
                <a:ea typeface="Calibri" pitchFamily="34" charset="-122"/>
                <a:cs typeface="Calibri" pitchFamily="34" charset="-120"/>
              </a:rPr>
              <a:t>Output</a:t>
            </a:r>
            <a:endParaRPr lang="en-US" sz="1200" dirty="0"/>
          </a:p>
        </p:txBody>
      </p:sp>
      <p:sp>
        <p:nvSpPr>
          <p:cNvPr id="26" name="Text 24"/>
          <p:cNvSpPr/>
          <p:nvPr/>
        </p:nvSpPr>
        <p:spPr>
          <a:xfrm>
            <a:off x="4498848" y="42793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Branch agent/swagger-gaps-&lt;run&gt; and a pull request.</a:t>
            </a:r>
            <a:endParaRPr lang="en-US" sz="1300" dirty="0"/>
          </a:p>
        </p:txBody>
      </p:sp>
      <p:sp>
        <p:nvSpPr>
          <p:cNvPr id="27" name="Text 25"/>
          <p:cNvSpPr/>
          <p:nvPr/>
        </p:nvSpPr>
        <p:spPr>
          <a:xfrm>
            <a:off x="4498848" y="4937760"/>
            <a:ext cx="3337560" cy="237744"/>
          </a:xfrm>
          <a:prstGeom prst="rect">
            <a:avLst/>
          </a:prstGeom>
          <a:noFill/>
          <a:ln/>
        </p:spPr>
        <p:txBody>
          <a:bodyPr wrap="square" lIns="0" tIns="0" rIns="0" bIns="0" rtlCol="0" anchor="ctr"/>
          <a:lstStyle/>
          <a:p>
            <a:pPr marL="0" indent="0">
              <a:buNone/>
            </a:pPr>
            <a:r>
              <a:rPr lang="en-US" sz="1200" b="1" dirty="0">
                <a:solidFill>
                  <a:srgbClr val="F0B429"/>
                </a:solidFill>
                <a:latin typeface="Calibri" pitchFamily="34" charset="0"/>
                <a:ea typeface="Calibri" pitchFamily="34" charset="-122"/>
                <a:cs typeface="Calibri" pitchFamily="34" charset="-120"/>
              </a:rPr>
              <a:t>Review</a:t>
            </a:r>
            <a:endParaRPr lang="en-US" sz="1200" dirty="0"/>
          </a:p>
        </p:txBody>
      </p:sp>
      <p:sp>
        <p:nvSpPr>
          <p:cNvPr id="28" name="Text 26"/>
          <p:cNvSpPr/>
          <p:nvPr/>
        </p:nvSpPr>
        <p:spPr>
          <a:xfrm>
            <a:off x="4498848" y="51937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A person merges. Azure OpenAI or OpenAI key required.</a:t>
            </a:r>
            <a:endParaRPr lang="en-US" sz="1300" dirty="0"/>
          </a:p>
        </p:txBody>
      </p:sp>
      <p:sp>
        <p:nvSpPr>
          <p:cNvPr id="29" name="Shape 27"/>
          <p:cNvSpPr/>
          <p:nvPr/>
        </p:nvSpPr>
        <p:spPr>
          <a:xfrm>
            <a:off x="8183880" y="1188720"/>
            <a:ext cx="3730752" cy="4983480"/>
          </a:xfrm>
          <a:prstGeom prst="roundRect">
            <a:avLst>
              <a:gd name="adj" fmla="val 1961"/>
            </a:avLst>
          </a:prstGeom>
          <a:solidFill>
            <a:srgbClr val="132A3A"/>
          </a:solidFill>
          <a:ln w="12700">
            <a:solidFill>
              <a:srgbClr val="2A4A60"/>
            </a:solidFill>
            <a:prstDash val="solid"/>
          </a:ln>
        </p:spPr>
        <p:txBody>
          <a:bodyPr/>
          <a:lstStyle/>
          <a:p>
            <a:endParaRPr lang="en-US"/>
          </a:p>
        </p:txBody>
      </p:sp>
      <p:sp>
        <p:nvSpPr>
          <p:cNvPr id="30" name="Shape 28"/>
          <p:cNvSpPr/>
          <p:nvPr/>
        </p:nvSpPr>
        <p:spPr>
          <a:xfrm>
            <a:off x="8183880" y="1188720"/>
            <a:ext cx="3730752" cy="73152"/>
          </a:xfrm>
          <a:prstGeom prst="rect">
            <a:avLst/>
          </a:prstGeom>
          <a:solidFill>
            <a:srgbClr val="8AA0B5"/>
          </a:solidFill>
          <a:ln w="12700">
            <a:solidFill>
              <a:srgbClr val="8AA0B5"/>
            </a:solidFill>
            <a:prstDash val="solid"/>
          </a:ln>
        </p:spPr>
        <p:txBody>
          <a:bodyPr/>
          <a:lstStyle/>
          <a:p>
            <a:endParaRPr lang="en-US"/>
          </a:p>
        </p:txBody>
      </p:sp>
      <p:sp>
        <p:nvSpPr>
          <p:cNvPr id="31" name="Text 29"/>
          <p:cNvSpPr/>
          <p:nvPr/>
        </p:nvSpPr>
        <p:spPr>
          <a:xfrm>
            <a:off x="8385048" y="1417320"/>
            <a:ext cx="3337560" cy="640080"/>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Azure DevOps</a:t>
            </a:r>
            <a:endParaRPr lang="en-US" sz="1800" dirty="0"/>
          </a:p>
        </p:txBody>
      </p:sp>
      <p:sp>
        <p:nvSpPr>
          <p:cNvPr id="32" name="Text 30"/>
          <p:cNvSpPr/>
          <p:nvPr/>
        </p:nvSpPr>
        <p:spPr>
          <a:xfrm>
            <a:off x="8385048" y="2194560"/>
            <a:ext cx="3337560" cy="237744"/>
          </a:xfrm>
          <a:prstGeom prst="rect">
            <a:avLst/>
          </a:prstGeom>
          <a:noFill/>
          <a:ln/>
        </p:spPr>
        <p:txBody>
          <a:bodyPr wrap="square" lIns="0" tIns="0" rIns="0" bIns="0" rtlCol="0" anchor="ctr"/>
          <a:lstStyle/>
          <a:p>
            <a:pPr marL="0" indent="0">
              <a:buNone/>
            </a:pPr>
            <a:r>
              <a:rPr lang="en-US" sz="1200" b="1" dirty="0">
                <a:solidFill>
                  <a:srgbClr val="8AA0B5"/>
                </a:solidFill>
                <a:latin typeface="Calibri" pitchFamily="34" charset="0"/>
                <a:ea typeface="Calibri" pitchFamily="34" charset="-122"/>
                <a:cs typeface="Calibri" pitchFamily="34" charset="-120"/>
              </a:rPr>
              <a:t>When</a:t>
            </a:r>
            <a:endParaRPr lang="en-US" sz="1200" dirty="0"/>
          </a:p>
        </p:txBody>
      </p:sp>
      <p:sp>
        <p:nvSpPr>
          <p:cNvPr id="33" name="Text 31"/>
          <p:cNvSpPr/>
          <p:nvPr/>
        </p:nvSpPr>
        <p:spPr>
          <a:xfrm>
            <a:off x="8385048" y="24505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Every build of this pipeline.</a:t>
            </a:r>
            <a:endParaRPr lang="en-US" sz="1300" dirty="0"/>
          </a:p>
        </p:txBody>
      </p:sp>
      <p:sp>
        <p:nvSpPr>
          <p:cNvPr id="34" name="Text 32"/>
          <p:cNvSpPr/>
          <p:nvPr/>
        </p:nvSpPr>
        <p:spPr>
          <a:xfrm>
            <a:off x="8385048" y="3108960"/>
            <a:ext cx="3337560" cy="237744"/>
          </a:xfrm>
          <a:prstGeom prst="rect">
            <a:avLst/>
          </a:prstGeom>
          <a:noFill/>
          <a:ln/>
        </p:spPr>
        <p:txBody>
          <a:bodyPr wrap="square" lIns="0" tIns="0" rIns="0" bIns="0" rtlCol="0" anchor="ctr"/>
          <a:lstStyle/>
          <a:p>
            <a:pPr marL="0" indent="0">
              <a:buNone/>
            </a:pPr>
            <a:r>
              <a:rPr lang="en-US" sz="1200" b="1" dirty="0">
                <a:solidFill>
                  <a:srgbClr val="8AA0B5"/>
                </a:solidFill>
                <a:latin typeface="Calibri" pitchFamily="34" charset="0"/>
                <a:ea typeface="Calibri" pitchFamily="34" charset="-122"/>
                <a:cs typeface="Calibri" pitchFamily="34" charset="-120"/>
              </a:rPr>
              <a:t>Who</a:t>
            </a:r>
            <a:endParaRPr lang="en-US" sz="1200" dirty="0"/>
          </a:p>
        </p:txBody>
      </p:sp>
      <p:sp>
        <p:nvSpPr>
          <p:cNvPr id="35" name="Text 33"/>
          <p:cNvSpPr/>
          <p:nvPr/>
        </p:nvSpPr>
        <p:spPr>
          <a:xfrm>
            <a:off x="8385048" y="33649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The coverage gate. No model call.</a:t>
            </a:r>
            <a:endParaRPr lang="en-US" sz="1300" dirty="0"/>
          </a:p>
        </p:txBody>
      </p:sp>
      <p:sp>
        <p:nvSpPr>
          <p:cNvPr id="36" name="Text 34"/>
          <p:cNvSpPr/>
          <p:nvPr/>
        </p:nvSpPr>
        <p:spPr>
          <a:xfrm>
            <a:off x="8385048" y="4023360"/>
            <a:ext cx="3337560" cy="237744"/>
          </a:xfrm>
          <a:prstGeom prst="rect">
            <a:avLst/>
          </a:prstGeom>
          <a:noFill/>
          <a:ln/>
        </p:spPr>
        <p:txBody>
          <a:bodyPr wrap="square" lIns="0" tIns="0" rIns="0" bIns="0" rtlCol="0" anchor="ctr"/>
          <a:lstStyle/>
          <a:p>
            <a:pPr marL="0" indent="0">
              <a:buNone/>
            </a:pPr>
            <a:r>
              <a:rPr lang="en-US" sz="1200" b="1" dirty="0">
                <a:solidFill>
                  <a:srgbClr val="8AA0B5"/>
                </a:solidFill>
                <a:latin typeface="Calibri" pitchFamily="34" charset="0"/>
                <a:ea typeface="Calibri" pitchFamily="34" charset="-122"/>
                <a:cs typeface="Calibri" pitchFamily="34" charset="-120"/>
              </a:rPr>
              <a:t>Output</a:t>
            </a:r>
            <a:endParaRPr lang="en-US" sz="1200" dirty="0"/>
          </a:p>
        </p:txBody>
      </p:sp>
      <p:sp>
        <p:nvSpPr>
          <p:cNvPr id="37" name="Text 35"/>
          <p:cNvSpPr/>
          <p:nvPr/>
        </p:nvSpPr>
        <p:spPr>
          <a:xfrm>
            <a:off x="8385048" y="42793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Pact files, reports, and the gap doc as artifacts.</a:t>
            </a:r>
            <a:endParaRPr lang="en-US" sz="1300" dirty="0"/>
          </a:p>
        </p:txBody>
      </p:sp>
      <p:sp>
        <p:nvSpPr>
          <p:cNvPr id="38" name="Text 36"/>
          <p:cNvSpPr/>
          <p:nvPr/>
        </p:nvSpPr>
        <p:spPr>
          <a:xfrm>
            <a:off x="8385048" y="4937760"/>
            <a:ext cx="3337560" cy="237744"/>
          </a:xfrm>
          <a:prstGeom prst="rect">
            <a:avLst/>
          </a:prstGeom>
          <a:noFill/>
          <a:ln/>
        </p:spPr>
        <p:txBody>
          <a:bodyPr wrap="square" lIns="0" tIns="0" rIns="0" bIns="0" rtlCol="0" anchor="ctr"/>
          <a:lstStyle/>
          <a:p>
            <a:pPr marL="0" indent="0">
              <a:buNone/>
            </a:pPr>
            <a:r>
              <a:rPr lang="en-US" sz="1200" b="1" dirty="0">
                <a:solidFill>
                  <a:srgbClr val="8AA0B5"/>
                </a:solidFill>
                <a:latin typeface="Calibri" pitchFamily="34" charset="0"/>
                <a:ea typeface="Calibri" pitchFamily="34" charset="-122"/>
                <a:cs typeface="Calibri" pitchFamily="34" charset="-120"/>
              </a:rPr>
              <a:t>Review</a:t>
            </a:r>
            <a:endParaRPr lang="en-US" sz="1200" dirty="0"/>
          </a:p>
        </p:txBody>
      </p:sp>
      <p:sp>
        <p:nvSpPr>
          <p:cNvPr id="39" name="Text 37"/>
          <p:cNvSpPr/>
          <p:nvPr/>
        </p:nvSpPr>
        <p:spPr>
          <a:xfrm>
            <a:off x="8385048" y="5193792"/>
            <a:ext cx="3337560" cy="548640"/>
          </a:xfrm>
          <a:prstGeom prst="rect">
            <a:avLst/>
          </a:prstGeom>
          <a:noFill/>
          <a:ln/>
        </p:spPr>
        <p:txBody>
          <a:bodyPr wrap="square" lIns="0" tIns="0" rIns="0" bIns="0" rtlCol="0" anchor="ctr"/>
          <a:lstStyle/>
          <a:p>
            <a:pPr marL="0" indent="0">
              <a:buNone/>
            </a:pPr>
            <a:r>
              <a:rPr lang="en-US" sz="1300" dirty="0">
                <a:solidFill>
                  <a:srgbClr val="D5DEE8"/>
                </a:solidFill>
                <a:latin typeface="Calibri" pitchFamily="34" charset="0"/>
                <a:ea typeface="Calibri" pitchFamily="34" charset="-122"/>
                <a:cs typeface="Calibri" pitchFamily="34" charset="-120"/>
              </a:rPr>
              <a:t>The build is red until the contracts catch up.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924"/>
        </a:solidFill>
        <a:effectLst/>
      </p:bgPr>
    </p:bg>
    <p:spTree>
      <p:nvGrpSpPr>
        <p:cNvPr id="1" name=""/>
        <p:cNvGrpSpPr/>
        <p:nvPr/>
      </p:nvGrpSpPr>
      <p:grpSpPr>
        <a:xfrm>
          <a:off x="0" y="0"/>
          <a:ext cx="0" cy="0"/>
          <a:chOff x="0" y="0"/>
          <a:chExt cx="0" cy="0"/>
        </a:xfrm>
      </p:grpSpPr>
      <p:sp>
        <p:nvSpPr>
          <p:cNvPr id="2" name="Shape 0"/>
          <p:cNvSpPr/>
          <p:nvPr/>
        </p:nvSpPr>
        <p:spPr>
          <a:xfrm>
            <a:off x="0" y="0"/>
            <a:ext cx="82296" cy="6858000"/>
          </a:xfrm>
          <a:prstGeom prst="rect">
            <a:avLst/>
          </a:prstGeom>
          <a:solidFill>
            <a:srgbClr val="3EE0C5"/>
          </a:solidFill>
          <a:ln w="12700">
            <a:solidFill>
              <a:srgbClr val="3EE0C5"/>
            </a:solidFill>
            <a:prstDash val="solid"/>
          </a:ln>
        </p:spPr>
        <p:txBody>
          <a:bodyPr/>
          <a:lstStyle/>
          <a:p>
            <a:endParaRPr lang="en-US"/>
          </a:p>
        </p:txBody>
      </p:sp>
      <p:sp>
        <p:nvSpPr>
          <p:cNvPr id="3" name="Text 1"/>
          <p:cNvSpPr/>
          <p:nvPr/>
        </p:nvSpPr>
        <p:spPr>
          <a:xfrm>
            <a:off x="384048" y="6528816"/>
            <a:ext cx="8046720" cy="219456"/>
          </a:xfrm>
          <a:prstGeom prst="rect">
            <a:avLst/>
          </a:prstGeom>
          <a:noFill/>
          <a:ln/>
        </p:spPr>
        <p:txBody>
          <a:bodyPr wrap="square" lIns="0" tIns="0" rIns="0" bIns="0" rtlCol="0" anchor="ctr"/>
          <a:lstStyle/>
          <a:p>
            <a:pPr marL="0" indent="0">
              <a:buNone/>
            </a:pPr>
            <a:r>
              <a:rPr lang="en-US" sz="1100" dirty="0">
                <a:solidFill>
                  <a:srgbClr val="8AA0B5"/>
                </a:solidFill>
                <a:latin typeface="Calibri" pitchFamily="34" charset="0"/>
                <a:ea typeface="Calibri" pitchFamily="34" charset="-122"/>
                <a:cs typeface="Calibri" pitchFamily="34" charset="-120"/>
              </a:rPr>
              <a:t>TAXMESH    ·    AGENTIC CONTRACT TESTING</a:t>
            </a:r>
            <a:endParaRPr lang="en-US" sz="1100" dirty="0"/>
          </a:p>
        </p:txBody>
      </p:sp>
      <p:sp>
        <p:nvSpPr>
          <p:cNvPr id="4" name="Text 2"/>
          <p:cNvSpPr/>
          <p:nvPr/>
        </p:nvSpPr>
        <p:spPr>
          <a:xfrm>
            <a:off x="9418320" y="6528816"/>
            <a:ext cx="2331720" cy="219456"/>
          </a:xfrm>
          <a:prstGeom prst="rect">
            <a:avLst/>
          </a:prstGeom>
          <a:noFill/>
          <a:ln/>
        </p:spPr>
        <p:txBody>
          <a:bodyPr wrap="square" lIns="0" tIns="0" rIns="0" bIns="0" rtlCol="0" anchor="ctr"/>
          <a:lstStyle/>
          <a:p>
            <a:pPr marL="0" indent="0" algn="r">
              <a:buNone/>
            </a:pPr>
            <a:r>
              <a:rPr lang="en-US" sz="1100" dirty="0">
                <a:solidFill>
                  <a:srgbClr val="8AA0B5"/>
                </a:solidFill>
                <a:latin typeface="Calibri" pitchFamily="34" charset="0"/>
                <a:ea typeface="Calibri" pitchFamily="34" charset="-122"/>
                <a:cs typeface="Calibri" pitchFamily="34" charset="-120"/>
              </a:rPr>
              <a:t>10    /    10</a:t>
            </a:r>
            <a:endParaRPr lang="en-US" sz="1100" dirty="0"/>
          </a:p>
        </p:txBody>
      </p:sp>
      <p:sp>
        <p:nvSpPr>
          <p:cNvPr id="5" name="Text 3"/>
          <p:cNvSpPr/>
          <p:nvPr/>
        </p:nvSpPr>
        <p:spPr>
          <a:xfrm>
            <a:off x="411480" y="256032"/>
            <a:ext cx="11247120" cy="237744"/>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DEFINITION OF DONE</a:t>
            </a:r>
            <a:endParaRPr lang="en-US" sz="1200" dirty="0"/>
          </a:p>
        </p:txBody>
      </p:sp>
      <p:sp>
        <p:nvSpPr>
          <p:cNvPr id="6" name="Text 4"/>
          <p:cNvSpPr/>
          <p:nvPr/>
        </p:nvSpPr>
        <p:spPr>
          <a:xfrm>
            <a:off x="411480" y="512064"/>
            <a:ext cx="11338560" cy="457200"/>
          </a:xfrm>
          <a:prstGeom prst="rect">
            <a:avLst/>
          </a:prstGeom>
          <a:noFill/>
          <a:ln/>
        </p:spPr>
        <p:txBody>
          <a:bodyPr wrap="square" lIns="0" tIns="0" rIns="0" bIns="0" rtlCol="0" anchor="ctr"/>
          <a:lstStyle/>
          <a:p>
            <a:pPr marL="0" indent="0">
              <a:buNone/>
            </a:pPr>
            <a:r>
              <a:rPr lang="en-US" sz="2800" b="1" dirty="0">
                <a:solidFill>
                  <a:srgbClr val="F7F9FC"/>
                </a:solidFill>
                <a:latin typeface="Calibri" pitchFamily="34" charset="0"/>
                <a:ea typeface="Calibri" pitchFamily="34" charset="-122"/>
                <a:cs typeface="Calibri" pitchFamily="34" charset="-120"/>
              </a:rPr>
              <a:t>v2 moves the API. CI finds it. The agent implements it.</a:t>
            </a:r>
            <a:endParaRPr lang="en-US" sz="2800" dirty="0"/>
          </a:p>
        </p:txBody>
      </p:sp>
      <p:sp>
        <p:nvSpPr>
          <p:cNvPr id="7" name="Shape 5"/>
          <p:cNvSpPr/>
          <p:nvPr/>
        </p:nvSpPr>
        <p:spPr>
          <a:xfrm>
            <a:off x="411480" y="1280160"/>
            <a:ext cx="5532120" cy="2880360"/>
          </a:xfrm>
          <a:prstGeom prst="roundRect">
            <a:avLst>
              <a:gd name="adj" fmla="val 2540"/>
            </a:avLst>
          </a:prstGeom>
          <a:solidFill>
            <a:srgbClr val="132A3A"/>
          </a:solidFill>
          <a:ln w="12700">
            <a:solidFill>
              <a:srgbClr val="2A4A60"/>
            </a:solidFill>
            <a:prstDash val="solid"/>
          </a:ln>
        </p:spPr>
        <p:txBody>
          <a:bodyPr/>
          <a:lstStyle/>
          <a:p>
            <a:endParaRPr lang="en-US"/>
          </a:p>
        </p:txBody>
      </p:sp>
      <p:sp>
        <p:nvSpPr>
          <p:cNvPr id="8" name="Text 6"/>
          <p:cNvSpPr/>
          <p:nvPr/>
        </p:nvSpPr>
        <p:spPr>
          <a:xfrm>
            <a:off x="640080" y="1444752"/>
            <a:ext cx="5029200" cy="256032"/>
          </a:xfrm>
          <a:prstGeom prst="rect">
            <a:avLst/>
          </a:prstGeom>
          <a:noFill/>
          <a:ln/>
        </p:spPr>
        <p:txBody>
          <a:bodyPr wrap="square" lIns="0" tIns="0" rIns="0" bIns="0" rtlCol="0" anchor="ctr"/>
          <a:lstStyle/>
          <a:p>
            <a:pPr marL="0" indent="0">
              <a:buNone/>
            </a:pPr>
            <a:r>
              <a:rPr lang="en-US" sz="1300" b="1" dirty="0">
                <a:solidFill>
                  <a:srgbClr val="FF6B6B"/>
                </a:solidFill>
                <a:latin typeface="Calibri" pitchFamily="34" charset="0"/>
                <a:ea typeface="Calibri" pitchFamily="34" charset="-122"/>
                <a:cs typeface="Calibri" pitchFamily="34" charset="-120"/>
              </a:rPr>
              <a:t>BEFORE</a:t>
            </a:r>
            <a:endParaRPr lang="en-US" sz="1300" dirty="0"/>
          </a:p>
        </p:txBody>
      </p:sp>
      <p:sp>
        <p:nvSpPr>
          <p:cNvPr id="9" name="Text 7"/>
          <p:cNvSpPr/>
          <p:nvPr/>
        </p:nvSpPr>
        <p:spPr>
          <a:xfrm>
            <a:off x="640080" y="1783080"/>
            <a:ext cx="5029200" cy="411480"/>
          </a:xfrm>
          <a:prstGeom prst="rect">
            <a:avLst/>
          </a:prstGeom>
          <a:noFill/>
          <a:ln/>
        </p:spPr>
        <p:txBody>
          <a:bodyPr wrap="square" lIns="0" tIns="0" rIns="0" bIns="0" rtlCol="0" anchor="ctr"/>
          <a:lstStyle/>
          <a:p>
            <a:pPr marL="0" indent="0">
              <a:buNone/>
            </a:pPr>
            <a:r>
              <a:rPr lang="en-US" sz="2600" b="1" dirty="0">
                <a:solidFill>
                  <a:srgbClr val="F7F9FC"/>
                </a:solidFill>
                <a:latin typeface="Calibri" pitchFamily="34" charset="0"/>
                <a:ea typeface="Calibri" pitchFamily="34" charset="-122"/>
                <a:cs typeface="Calibri" pitchFamily="34" charset="-120"/>
              </a:rPr>
              <a:t>Gate is red</a:t>
            </a:r>
            <a:endParaRPr lang="en-US" sz="2600" dirty="0"/>
          </a:p>
        </p:txBody>
      </p:sp>
      <p:sp>
        <p:nvSpPr>
          <p:cNvPr id="10" name="Text 8"/>
          <p:cNvSpPr/>
          <p:nvPr/>
        </p:nvSpPr>
        <p:spPr>
          <a:xfrm>
            <a:off x="640080" y="2331720"/>
            <a:ext cx="5029200" cy="1463040"/>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Missing is greater than zero.</a:t>
            </a:r>
            <a:endParaRPr lang="en-US" sz="1500" dirty="0"/>
          </a:p>
          <a:p>
            <a:pPr marL="0" indent="0">
              <a:buNone/>
            </a:pPr>
            <a:r>
              <a:rPr lang="en-US" sz="1500" dirty="0">
                <a:solidFill>
                  <a:srgbClr val="D5DEE8"/>
                </a:solidFill>
                <a:latin typeface="Calibri" pitchFamily="34" charset="0"/>
                <a:ea typeface="Calibri" pitchFamily="34" charset="-122"/>
                <a:cs typeface="Calibri" pitchFamily="34" charset="-120"/>
              </a:rPr>
              <a:t>reports/swagger-coverage.json lists each method and path.</a:t>
            </a:r>
            <a:endParaRPr lang="en-US" sz="1500" dirty="0"/>
          </a:p>
          <a:p>
            <a:pPr marL="0" indent="0">
              <a:buNone/>
            </a:pPr>
            <a:r>
              <a:rPr lang="en-US" sz="1500" dirty="0">
                <a:solidFill>
                  <a:srgbClr val="D5DEE8"/>
                </a:solidFill>
                <a:latin typeface="Calibri" pitchFamily="34" charset="0"/>
                <a:ea typeface="Calibri" pitchFamily="34" charset="-122"/>
                <a:cs typeface="Calibri" pitchFamily="34" charset="-120"/>
              </a:rPr>
              <a:t>The log names the agent that should take the hand-off.</a:t>
            </a:r>
            <a:endParaRPr lang="en-US" sz="1500" dirty="0"/>
          </a:p>
        </p:txBody>
      </p:sp>
      <p:sp>
        <p:nvSpPr>
          <p:cNvPr id="11" name="Shape 9"/>
          <p:cNvSpPr/>
          <p:nvPr/>
        </p:nvSpPr>
        <p:spPr>
          <a:xfrm>
            <a:off x="6217920" y="1280160"/>
            <a:ext cx="5532120" cy="2880360"/>
          </a:xfrm>
          <a:prstGeom prst="roundRect">
            <a:avLst>
              <a:gd name="adj" fmla="val 2540"/>
            </a:avLst>
          </a:prstGeom>
          <a:solidFill>
            <a:srgbClr val="132A3A"/>
          </a:solidFill>
          <a:ln w="12700">
            <a:solidFill>
              <a:srgbClr val="2A4A60"/>
            </a:solidFill>
            <a:prstDash val="solid"/>
          </a:ln>
        </p:spPr>
        <p:txBody>
          <a:bodyPr/>
          <a:lstStyle/>
          <a:p>
            <a:endParaRPr lang="en-US"/>
          </a:p>
        </p:txBody>
      </p:sp>
      <p:sp>
        <p:nvSpPr>
          <p:cNvPr id="12" name="Text 10"/>
          <p:cNvSpPr/>
          <p:nvPr/>
        </p:nvSpPr>
        <p:spPr>
          <a:xfrm>
            <a:off x="6446520" y="1444752"/>
            <a:ext cx="5029200" cy="256032"/>
          </a:xfrm>
          <a:prstGeom prst="rect">
            <a:avLst/>
          </a:prstGeom>
          <a:noFill/>
          <a:ln/>
        </p:spPr>
        <p:txBody>
          <a:bodyPr wrap="square" lIns="0" tIns="0" rIns="0" bIns="0" rtlCol="0" anchor="ctr"/>
          <a:lstStyle/>
          <a:p>
            <a:pPr marL="0" indent="0">
              <a:buNone/>
            </a:pPr>
            <a:r>
              <a:rPr lang="en-US" sz="1300" b="1" dirty="0">
                <a:solidFill>
                  <a:srgbClr val="3DDC97"/>
                </a:solidFill>
                <a:latin typeface="Calibri" pitchFamily="34" charset="0"/>
                <a:ea typeface="Calibri" pitchFamily="34" charset="-122"/>
                <a:cs typeface="Calibri" pitchFamily="34" charset="-120"/>
              </a:rPr>
              <a:t>AFTER</a:t>
            </a:r>
            <a:endParaRPr lang="en-US" sz="1300" dirty="0"/>
          </a:p>
        </p:txBody>
      </p:sp>
      <p:sp>
        <p:nvSpPr>
          <p:cNvPr id="13" name="Text 11"/>
          <p:cNvSpPr/>
          <p:nvPr/>
        </p:nvSpPr>
        <p:spPr>
          <a:xfrm>
            <a:off x="6446520" y="1783080"/>
            <a:ext cx="5029200" cy="411480"/>
          </a:xfrm>
          <a:prstGeom prst="rect">
            <a:avLst/>
          </a:prstGeom>
          <a:noFill/>
          <a:ln/>
        </p:spPr>
        <p:txBody>
          <a:bodyPr wrap="square" lIns="0" tIns="0" rIns="0" bIns="0" rtlCol="0" anchor="ctr"/>
          <a:lstStyle/>
          <a:p>
            <a:pPr marL="0" indent="0">
              <a:buNone/>
            </a:pPr>
            <a:r>
              <a:rPr lang="en-US" sz="2600" b="1" dirty="0">
                <a:solidFill>
                  <a:srgbClr val="F7F9FC"/>
                </a:solidFill>
                <a:latin typeface="Calibri" pitchFamily="34" charset="0"/>
                <a:ea typeface="Calibri" pitchFamily="34" charset="-122"/>
                <a:cs typeface="Calibri" pitchFamily="34" charset="-120"/>
              </a:rPr>
              <a:t>Gate is green</a:t>
            </a:r>
            <a:endParaRPr lang="en-US" sz="2600" dirty="0"/>
          </a:p>
        </p:txBody>
      </p:sp>
      <p:sp>
        <p:nvSpPr>
          <p:cNvPr id="14" name="Text 12"/>
          <p:cNvSpPr/>
          <p:nvPr/>
        </p:nvSpPr>
        <p:spPr>
          <a:xfrm>
            <a:off x="6446520" y="2331720"/>
            <a:ext cx="5029200" cy="1463040"/>
          </a:xfrm>
          <a:prstGeom prst="rect">
            <a:avLst/>
          </a:prstGeom>
          <a:noFill/>
          <a:ln/>
        </p:spPr>
        <p:txBody>
          <a:bodyPr wrap="square" lIns="0" tIns="0" rIns="0" bIns="0" rtlCol="0" anchor="ctr"/>
          <a:lstStyle/>
          <a:p>
            <a:pPr marL="0" indent="0">
              <a:buNone/>
            </a:pPr>
            <a:r>
              <a:rPr lang="en-US" sz="1500" dirty="0">
                <a:solidFill>
                  <a:srgbClr val="D5DEE8"/>
                </a:solidFill>
                <a:latin typeface="Calibri" pitchFamily="34" charset="0"/>
                <a:ea typeface="Calibri" pitchFamily="34" charset="-122"/>
                <a:cs typeface="Calibri" pitchFamily="34" charset="-120"/>
              </a:rPr>
              <a:t>Missing is zero, apart from deferred rows.</a:t>
            </a:r>
            <a:endParaRPr lang="en-US" sz="1500" dirty="0"/>
          </a:p>
          <a:p>
            <a:pPr marL="0" indent="0">
              <a:buNone/>
            </a:pPr>
            <a:r>
              <a:rPr lang="en-US" sz="1500" dirty="0">
                <a:solidFill>
                  <a:srgbClr val="D5DEE8"/>
                </a:solidFill>
                <a:latin typeface="Calibri" pitchFamily="34" charset="0"/>
                <a:ea typeface="Calibri" pitchFamily="34" charset="-122"/>
                <a:cs typeface="Calibri" pitchFamily="34" charset="-120"/>
              </a:rPr>
              <a:t>New interactions sit in the existing consumer specs.</a:t>
            </a:r>
            <a:endParaRPr lang="en-US" sz="1500" dirty="0"/>
          </a:p>
          <a:p>
            <a:pPr marL="0" indent="0">
              <a:buNone/>
            </a:pPr>
            <a:r>
              <a:rPr lang="en-US" sz="1500" dirty="0">
                <a:solidFill>
                  <a:srgbClr val="D5DEE8"/>
                </a:solidFill>
                <a:latin typeface="Calibri" pitchFamily="34" charset="0"/>
                <a:ea typeface="Calibri" pitchFamily="34" charset="-122"/>
                <a:cs typeface="Calibri" pitchFamily="34" charset="-120"/>
              </a:rPr>
              <a:t>The write-up is SWAGGER_GAP_AGENT_REPORT.md.</a:t>
            </a:r>
            <a:endParaRPr lang="en-US" sz="1500" dirty="0"/>
          </a:p>
        </p:txBody>
      </p:sp>
      <p:sp>
        <p:nvSpPr>
          <p:cNvPr id="15" name="Shape 13"/>
          <p:cNvSpPr/>
          <p:nvPr/>
        </p:nvSpPr>
        <p:spPr>
          <a:xfrm>
            <a:off x="411480" y="4315968"/>
            <a:ext cx="11338560" cy="1874520"/>
          </a:xfrm>
          <a:prstGeom prst="roundRect">
            <a:avLst>
              <a:gd name="adj" fmla="val 3902"/>
            </a:avLst>
          </a:prstGeom>
          <a:solidFill>
            <a:srgbClr val="183648"/>
          </a:solidFill>
          <a:ln w="12700">
            <a:solidFill>
              <a:srgbClr val="2A4A60"/>
            </a:solidFill>
            <a:prstDash val="solid"/>
          </a:ln>
        </p:spPr>
        <p:txBody>
          <a:bodyPr/>
          <a:lstStyle/>
          <a:p>
            <a:endParaRPr lang="en-US"/>
          </a:p>
        </p:txBody>
      </p:sp>
      <p:sp>
        <p:nvSpPr>
          <p:cNvPr id="16" name="Text 14"/>
          <p:cNvSpPr/>
          <p:nvPr/>
        </p:nvSpPr>
        <p:spPr>
          <a:xfrm>
            <a:off x="640080" y="4462272"/>
            <a:ext cx="10881360" cy="329184"/>
          </a:xfrm>
          <a:prstGeom prst="rect">
            <a:avLst/>
          </a:prstGeom>
          <a:noFill/>
          <a:ln/>
        </p:spPr>
        <p:txBody>
          <a:bodyPr wrap="square" lIns="0" tIns="0" rIns="0" bIns="0" rtlCol="0" anchor="ctr"/>
          <a:lstStyle/>
          <a:p>
            <a:pPr marL="0" indent="0">
              <a:buNone/>
            </a:pPr>
            <a:r>
              <a:rPr lang="en-US" sz="1800" b="1" dirty="0">
                <a:solidFill>
                  <a:srgbClr val="F7F9FC"/>
                </a:solidFill>
                <a:latin typeface="Calibri" pitchFamily="34" charset="0"/>
                <a:ea typeface="Calibri" pitchFamily="34" charset="-122"/>
                <a:cs typeface="Calibri" pitchFamily="34" charset="-120"/>
              </a:rPr>
              <a:t>A person still reviews the diff before merge.</a:t>
            </a:r>
            <a:endParaRPr lang="en-US" sz="1800" dirty="0"/>
          </a:p>
        </p:txBody>
      </p:sp>
      <p:sp>
        <p:nvSpPr>
          <p:cNvPr id="17" name="Text 15"/>
          <p:cNvSpPr/>
          <p:nvPr/>
        </p:nvSpPr>
        <p:spPr>
          <a:xfrm>
            <a:off x="640080" y="4919472"/>
            <a:ext cx="3520440" cy="256032"/>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Gap write-up</a:t>
            </a:r>
            <a:endParaRPr lang="en-US" sz="1200" dirty="0"/>
          </a:p>
        </p:txBody>
      </p:sp>
      <p:sp>
        <p:nvSpPr>
          <p:cNvPr id="18" name="Text 16"/>
          <p:cNvSpPr/>
          <p:nvPr/>
        </p:nvSpPr>
        <p:spPr>
          <a:xfrm>
            <a:off x="640080" y="5212080"/>
            <a:ext cx="3520440" cy="640080"/>
          </a:xfrm>
          <a:prstGeom prst="rect">
            <a:avLst/>
          </a:prstGeom>
          <a:noFill/>
          <a:ln/>
        </p:spPr>
        <p:txBody>
          <a:bodyPr wrap="square" lIns="0" tIns="0" rIns="0" bIns="0" rtlCol="0" anchor="ctr"/>
          <a:lstStyle/>
          <a:p>
            <a:pPr marL="0" indent="0">
              <a:buNone/>
            </a:pPr>
            <a:r>
              <a:rPr lang="en-US" sz="1300" dirty="0">
                <a:solidFill>
                  <a:srgbClr val="D5DEE8"/>
                </a:solidFill>
                <a:latin typeface="Consolas" pitchFamily="34" charset="0"/>
                <a:ea typeface="Consolas" pitchFamily="34" charset="-122"/>
                <a:cs typeface="Consolas" pitchFamily="34" charset="-120"/>
              </a:rPr>
              <a:t>docs/SWAGGER_GAP_COVERAGE.md</a:t>
            </a:r>
            <a:endParaRPr lang="en-US" sz="1300" dirty="0"/>
          </a:p>
        </p:txBody>
      </p:sp>
      <p:sp>
        <p:nvSpPr>
          <p:cNvPr id="19" name="Text 17"/>
          <p:cNvSpPr/>
          <p:nvPr/>
        </p:nvSpPr>
        <p:spPr>
          <a:xfrm>
            <a:off x="4343400" y="4919472"/>
            <a:ext cx="3520440" cy="256032"/>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Machine-readable</a:t>
            </a:r>
            <a:endParaRPr lang="en-US" sz="1200" dirty="0"/>
          </a:p>
        </p:txBody>
      </p:sp>
      <p:sp>
        <p:nvSpPr>
          <p:cNvPr id="20" name="Text 18"/>
          <p:cNvSpPr/>
          <p:nvPr/>
        </p:nvSpPr>
        <p:spPr>
          <a:xfrm>
            <a:off x="4343400" y="5212080"/>
            <a:ext cx="3520440" cy="640080"/>
          </a:xfrm>
          <a:prstGeom prst="rect">
            <a:avLst/>
          </a:prstGeom>
          <a:noFill/>
          <a:ln/>
        </p:spPr>
        <p:txBody>
          <a:bodyPr wrap="square" lIns="0" tIns="0" rIns="0" bIns="0" rtlCol="0" anchor="ctr"/>
          <a:lstStyle/>
          <a:p>
            <a:pPr marL="0" indent="0">
              <a:buNone/>
            </a:pPr>
            <a:r>
              <a:rPr lang="en-US" sz="1300" dirty="0">
                <a:solidFill>
                  <a:srgbClr val="D5DEE8"/>
                </a:solidFill>
                <a:latin typeface="Consolas" pitchFamily="34" charset="0"/>
                <a:ea typeface="Consolas" pitchFamily="34" charset="-122"/>
                <a:cs typeface="Consolas" pitchFamily="34" charset="-120"/>
              </a:rPr>
              <a:t>reports/swagger-coverage.json</a:t>
            </a:r>
            <a:endParaRPr lang="en-US" sz="1300" dirty="0"/>
          </a:p>
        </p:txBody>
      </p:sp>
      <p:sp>
        <p:nvSpPr>
          <p:cNvPr id="21" name="Text 19"/>
          <p:cNvSpPr/>
          <p:nvPr/>
        </p:nvSpPr>
        <p:spPr>
          <a:xfrm>
            <a:off x="8046720" y="4919472"/>
            <a:ext cx="3520440" cy="256032"/>
          </a:xfrm>
          <a:prstGeom prst="rect">
            <a:avLst/>
          </a:prstGeom>
          <a:noFill/>
          <a:ln/>
        </p:spPr>
        <p:txBody>
          <a:bodyPr wrap="square" lIns="0" tIns="0" rIns="0" bIns="0" rtlCol="0" anchor="ctr"/>
          <a:lstStyle/>
          <a:p>
            <a:pPr marL="0" indent="0">
              <a:buNone/>
            </a:pPr>
            <a:r>
              <a:rPr lang="en-US" sz="1200" b="1" dirty="0">
                <a:solidFill>
                  <a:srgbClr val="3EE0C5"/>
                </a:solidFill>
                <a:latin typeface="Calibri" pitchFamily="34" charset="0"/>
                <a:ea typeface="Calibri" pitchFamily="34" charset="-122"/>
                <a:cs typeface="Calibri" pitchFamily="34" charset="-120"/>
              </a:rPr>
              <a:t>Dashboard</a:t>
            </a:r>
            <a:endParaRPr lang="en-US" sz="1200" dirty="0"/>
          </a:p>
        </p:txBody>
      </p:sp>
      <p:sp>
        <p:nvSpPr>
          <p:cNvPr id="22" name="Text 20"/>
          <p:cNvSpPr/>
          <p:nvPr/>
        </p:nvSpPr>
        <p:spPr>
          <a:xfrm>
            <a:off x="8046720" y="5212080"/>
            <a:ext cx="3520440" cy="640080"/>
          </a:xfrm>
          <a:prstGeom prst="rect">
            <a:avLst/>
          </a:prstGeom>
          <a:noFill/>
          <a:ln/>
        </p:spPr>
        <p:txBody>
          <a:bodyPr wrap="square" lIns="0" tIns="0" rIns="0" bIns="0" rtlCol="0" anchor="ctr"/>
          <a:lstStyle/>
          <a:p>
            <a:pPr marL="0" indent="0">
              <a:buNone/>
            </a:pPr>
            <a:r>
              <a:rPr lang="en-US" sz="1300" dirty="0">
                <a:solidFill>
                  <a:srgbClr val="D5DEE8"/>
                </a:solidFill>
                <a:latin typeface="Consolas" pitchFamily="34" charset="0"/>
                <a:ea typeface="Consolas" pitchFamily="34" charset="-122"/>
                <a:cs typeface="Consolas" pitchFamily="34" charset="-120"/>
              </a:rPr>
              <a:t>dashboard/index.html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2337</Words>
  <Application>Microsoft Office PowerPoint</Application>
  <PresentationFormat>Widescreen</PresentationFormat>
  <Paragraphs>267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Contract Testing — TaxMesh Demo</dc:title>
  <dc:subject>main vs v2 Swagger, CI gap detection, local AI agent implementation</dc:subject>
  <dc:creator>TaxMesh Contract Testing</dc:creator>
  <cp:lastModifiedBy>Avinash Sharma</cp:lastModifiedBy>
  <cp:revision>2</cp:revision>
  <dcterms:created xsi:type="dcterms:W3CDTF">2026-10-27T18:11:41Z</dcterms:created>
  <dcterms:modified xsi:type="dcterms:W3CDTF">2026-10-28T05:41:21Z</dcterms:modified>
</cp:coreProperties>
</file>